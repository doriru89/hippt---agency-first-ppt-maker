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84C6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F36"/>
                </a:solidFill>
                <a:latin typeface="Calibri"/>
              </a:defRPr>
            </a:pPr>
            <a:r>
              <a:t>The market is massive and waits for a credible tool.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4754880" cy="4754880"/>
          </a:xfrm>
          <a:prstGeom prst="ellipse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331720"/>
            <a:ext cx="3566160" cy="3566160"/>
          </a:xfrm>
          <a:prstGeom prst="ellipse">
            <a:avLst/>
          </a:prstGeom>
          <a:solidFill>
            <a:srgbClr val="D49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926080"/>
            <a:ext cx="2377440" cy="2377440"/>
          </a:xfrm>
          <a:prstGeom prst="ellipse">
            <a:avLst/>
          </a:prstGeom>
          <a:solidFill>
            <a:srgbClr val="F0D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3657600" cy="5303520"/>
          </a:xfrm>
          <a:prstGeom prst="rect">
            <a:avLst/>
          </a:prstGeom>
          <a:solidFill>
            <a:srgbClr val="FF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$557B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DDDD"/>
                </a:solidFill>
                <a:latin typeface="Calibri"/>
              </a:defRPr>
            </a:pPr>
            <a:r>
              <a:t>US consumer OOP</a:t>
            </a:r>
            <a:br/>
            <a:r>
              <a:t>healthcare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$67–200B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DDDD"/>
                </a:solidFill>
                <a:latin typeface="Calibri"/>
              </a:defRPr>
            </a:pPr>
            <a:r>
              <a:t>Shoppable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60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F36"/>
                </a:solidFill>
                <a:latin typeface="Calibri"/>
              </a:defRPr>
            </a:pPr>
            <a:r>
              <a:t>$2–4B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Year 1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4846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45720" cy="1234440"/>
          </a:xfrm>
          <a:prstGeom prst="rect">
            <a:avLst/>
          </a:prstGeom>
          <a:solidFill>
            <a:srgbClr val="D49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F36"/>
                </a:solidFill>
                <a:latin typeface="Calibri"/>
              </a:defRPr>
            </a:pPr>
            <a:r>
              <a:t>$2.0B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75569"/>
                </a:solidFill>
                <a:latin typeface="Calibri"/>
              </a:defRPr>
            </a:pPr>
            <a:r>
              <a:t>Price transparency software market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06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t>Growing at 17.2% CAGR → $3.77B by 2029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91840"/>
            <a:ext cx="4846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3291840"/>
            <a:ext cx="45720" cy="1234440"/>
          </a:xfrm>
          <a:prstGeom prst="rect">
            <a:avLst/>
          </a:prstGeom>
          <a:solidFill>
            <a:srgbClr val="C1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F36"/>
                </a:solidFill>
                <a:latin typeface="Calibri"/>
              </a:defRPr>
            </a:pPr>
            <a:r>
              <a:t>$11.9B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749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75569"/>
                </a:solidFill>
                <a:latin typeface="Calibri"/>
              </a:defRPr>
            </a:pPr>
            <a:r>
              <a:t>Health navigation platform market (2025)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069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t>37% employer adoption · only 22% fully trusted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754880"/>
            <a:ext cx="4846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4754880"/>
            <a:ext cx="45720" cy="1234440"/>
          </a:xfrm>
          <a:prstGeom prst="rect">
            <a:avLst/>
          </a:prstGeom>
          <a:solidFill>
            <a:srgbClr val="B8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F36"/>
                </a:solidFill>
                <a:latin typeface="Calibri"/>
              </a:defRPr>
            </a:pPr>
            <a:r>
              <a:t>$18,500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75569"/>
                </a:solidFill>
                <a:latin typeface="Calibri"/>
              </a:defRPr>
            </a:pPr>
            <a:r>
              <a:t>Average employer healthcare cost per employee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532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t>10% projected increase for 2026 — 15-year 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2179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6217920"/>
            <a:ext cx="45720" cy="502920"/>
          </a:xfrm>
          <a:prstGeom prst="rect">
            <a:avLst/>
          </a:prstGeom>
          <a:solidFill>
            <a:srgbClr val="2F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6236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F36"/>
                </a:solidFill>
                <a:latin typeface="Calibri"/>
              </a:defRPr>
            </a:pPr>
            <a:r>
              <a:t>6,000+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62362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475569"/>
                </a:solidFill>
                <a:latin typeface="Calibri"/>
              </a:defRPr>
            </a:pPr>
            <a:r>
              <a:t>Ambulatory surgical centers in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6446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All subject to April 2026 CMS enforcement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84C6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F36"/>
                </a:solidFill>
                <a:latin typeface="Calibri"/>
              </a:defRPr>
            </a:pPr>
            <a:r>
              <a:t>The market is massive and waits for a credible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84C6A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383280" cy="2743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84C6A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383280" cy="2743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84C6A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28800"/>
            <a:ext cx="3383280" cy="2743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54864" cy="1234440"/>
          </a:xfrm>
          <a:prstGeom prst="rect">
            <a:avLst/>
          </a:prstGeom>
          <a:solidFill>
            <a:srgbClr val="D49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76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A84C6A"/>
                </a:solidFill>
                <a:latin typeface="Calibri"/>
              </a:defRPr>
            </a:pPr>
            <a:r>
              <a:t>$557B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75569"/>
                </a:solidFill>
                <a:latin typeface="Calibri"/>
              </a:defRPr>
            </a:pPr>
            <a:r>
              <a:t>US consumer OOP spend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044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54864" cy="1234440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93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A84C6A"/>
                </a:solidFill>
                <a:latin typeface="Calibri"/>
              </a:defRPr>
            </a:pPr>
            <a:r>
              <a:t>$67–200B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75569"/>
                </a:solidFill>
                <a:latin typeface="Calibri"/>
              </a:defRPr>
            </a:pPr>
            <a:r>
              <a:t>Shoppable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3776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54864" cy="1234440"/>
          </a:xfrm>
          <a:prstGeom prst="rect">
            <a:avLst/>
          </a:prstGeom>
          <a:solidFill>
            <a:srgbClr val="C1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A84C6A"/>
                </a:solidFill>
                <a:latin typeface="Calibri"/>
              </a:defRPr>
            </a:pPr>
            <a:r>
              <a:t>$2–4B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75569"/>
                </a:solidFill>
                <a:latin typeface="Calibri"/>
              </a:defRPr>
            </a:pPr>
            <a:r>
              <a:t>Year 1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959D"/>
                </a:solidFill>
                <a:latin typeface="Calibri"/>
              </a:defRPr>
            </a:pPr>
            <a:r>
              <a:t>$2.0B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4505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Price transparency software market (2025)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679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Growing at 17.2% CAGR → $3.77B by 2029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14545"/>
                </a:solidFill>
                <a:latin typeface="Calibri"/>
              </a:defRPr>
            </a:pPr>
            <a:r>
              <a:t>$11.9B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5021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Health navigation platform market (2025)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7307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37% employer adoption · only 22% fully trusted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206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B8893D"/>
                </a:solidFill>
                <a:latin typeface="Calibri"/>
              </a:defRPr>
            </a:pPr>
            <a:r>
              <a:t>$18,500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5537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Average employer healthcare cost per employee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7823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10% projected increase for 2026 — 15-year 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F4C8C"/>
                </a:solidFill>
                <a:latin typeface="Calibri"/>
              </a:defRPr>
            </a:pPr>
            <a:r>
              <a:t>6,000+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60527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Ambulatory surgical centers in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83387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All subject to April 2026 CMS enforcement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2103120"/>
            <a:ext cx="33832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8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59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F36"/>
                </a:solidFill>
                <a:latin typeface="Calibri"/>
              </a:defRPr>
            </a:pPr>
            <a:r>
              <a:t>89% want to shop, 3% can.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F36"/>
                </a:solidFill>
                <a:latin typeface="Calibri"/>
              </a:defRPr>
            </a:pPr>
            <a:r>
              <a:t>$557B market, zero credible consumer tools.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59" y="4297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84C6A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59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Calibri"/>
              </a:defRPr>
            </a:pPr>
            <a:r>
              <a:t>Consumer trust: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79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22% (avg platform)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Calibri"/>
              </a:defRPr>
            </a:pPr>
            <a:r>
              <a:t>Market growth: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79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17.2% CAGR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5349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Calibri"/>
              </a:defRPr>
            </a:pPr>
            <a:r>
              <a:t>Employer adoption: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79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37% (rising)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59" y="5669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Calibri"/>
              </a:defRPr>
            </a:pPr>
            <a:r>
              <a:t>CMS enforcement: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79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84C6A"/>
                </a:solidFill>
                <a:latin typeface="Calibri"/>
              </a:defRPr>
            </a:pPr>
            <a:r>
              <a:t>COMPETITION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F36"/>
                </a:solidFill>
                <a:latin typeface="Calibri"/>
              </a:defRPr>
            </a:pPr>
            <a:r>
              <a:t>The top-right quadrant is empty.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75569"/>
                </a:solidFill>
                <a:latin typeface="Calibri"/>
              </a:defRPr>
            </a:pPr>
            <a:r>
              <a:t>No product combines high explainability with broad distribution. $3.7B in funding sits outside the target zone.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6309360"/>
            <a:ext cx="9601200" cy="2286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737360"/>
            <a:ext cx="22860" cy="4572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Distribution /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Explainability /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355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55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4748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37360"/>
            <a:ext cx="4800600" cy="2286000"/>
          </a:xfrm>
          <a:prstGeom prst="rect">
            <a:avLst/>
          </a:prstGeom>
          <a:solidFill>
            <a:srgbClr val="FDF2F4"/>
          </a:solidFill>
          <a:ln w="12700">
            <a:solidFill>
              <a:srgbClr val="D4959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828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A84C6A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6" name="Oval 15"/>
          <p:cNvSpPr/>
          <p:nvPr/>
        </p:nvSpPr>
        <p:spPr>
          <a:xfrm>
            <a:off x="2962656" y="2286000"/>
            <a:ext cx="274320" cy="274320"/>
          </a:xfrm>
          <a:prstGeom prst="ellipse">
            <a:avLst/>
          </a:prstGeom>
          <a:solidFill>
            <a:srgbClr val="6B8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1176" y="2578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FAIR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272491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Benchmarks</a:t>
            </a:r>
          </a:p>
        </p:txBody>
      </p:sp>
      <p:sp>
        <p:nvSpPr>
          <p:cNvPr id="19" name="Oval 18"/>
          <p:cNvSpPr/>
          <p:nvPr/>
        </p:nvSpPr>
        <p:spPr>
          <a:xfrm>
            <a:off x="3515868" y="2720340"/>
            <a:ext cx="320040" cy="320040"/>
          </a:xfrm>
          <a:prstGeom prst="ellipse">
            <a:avLst/>
          </a:prstGeom>
          <a:solidFill>
            <a:srgbClr val="5B7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30586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Turquoise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20497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$95M · B2B</a:t>
            </a:r>
          </a:p>
        </p:txBody>
      </p:sp>
      <p:sp>
        <p:nvSpPr>
          <p:cNvPr id="22" name="Oval 21"/>
          <p:cNvSpPr/>
          <p:nvPr/>
        </p:nvSpPr>
        <p:spPr>
          <a:xfrm>
            <a:off x="2720340" y="3383280"/>
            <a:ext cx="182880" cy="182880"/>
          </a:xfrm>
          <a:prstGeom prst="ellipse">
            <a:avLst/>
          </a:prstGeom>
          <a:solidFill>
            <a:srgbClr val="7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63140" y="35844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Serif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3140" y="373075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B2B · 300+</a:t>
            </a:r>
          </a:p>
        </p:txBody>
      </p:sp>
      <p:sp>
        <p:nvSpPr>
          <p:cNvPr id="25" name="Oval 24"/>
          <p:cNvSpPr/>
          <p:nvPr/>
        </p:nvSpPr>
        <p:spPr>
          <a:xfrm>
            <a:off x="8654796" y="1988820"/>
            <a:ext cx="411480" cy="411480"/>
          </a:xfrm>
          <a:prstGeom prst="ellipse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24185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A84C6A"/>
                </a:solidFill>
                <a:latin typeface="Calibri"/>
              </a:defRPr>
            </a:pPr>
            <a:r>
              <a:t>CareCost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56489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Consumer + B2B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4425696"/>
            <a:ext cx="292608" cy="29260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4736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GoodRx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5224" y="4882896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$797M · Rx only</a:t>
            </a:r>
          </a:p>
        </p:txBody>
      </p:sp>
      <p:sp>
        <p:nvSpPr>
          <p:cNvPr id="31" name="Oval 30"/>
          <p:cNvSpPr/>
          <p:nvPr/>
        </p:nvSpPr>
        <p:spPr>
          <a:xfrm>
            <a:off x="7159752" y="4224528"/>
            <a:ext cx="329184" cy="329184"/>
          </a:xfrm>
          <a:prstGeom prst="ellipse">
            <a:avLst/>
          </a:prstGeom>
          <a:solidFill>
            <a:srgbClr val="D4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4" y="4572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Insurer 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4718304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UHC·Cigna·Aetna</a:t>
            </a:r>
          </a:p>
        </p:txBody>
      </p:sp>
      <p:sp>
        <p:nvSpPr>
          <p:cNvPr id="34" name="Oval 33"/>
          <p:cNvSpPr/>
          <p:nvPr/>
        </p:nvSpPr>
        <p:spPr>
          <a:xfrm>
            <a:off x="8147304" y="4709160"/>
            <a:ext cx="274320" cy="274320"/>
          </a:xfrm>
          <a:prstGeom prst="ellipse">
            <a:avLst/>
          </a:prstGeom>
          <a:solidFill>
            <a:srgbClr val="6B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5824" y="50017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Transcarent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5824" y="514807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$940M</a:t>
            </a:r>
          </a:p>
        </p:txBody>
      </p:sp>
      <p:sp>
        <p:nvSpPr>
          <p:cNvPr id="37" name="Oval 36"/>
          <p:cNvSpPr/>
          <p:nvPr/>
        </p:nvSpPr>
        <p:spPr>
          <a:xfrm>
            <a:off x="5865876" y="4137660"/>
            <a:ext cx="228600" cy="228600"/>
          </a:xfrm>
          <a:prstGeom prst="ellipse">
            <a:avLst/>
          </a:prstGeom>
          <a:solidFill>
            <a:srgbClr val="9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31536" y="43845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Ada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53085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$167M · triage</a:t>
            </a:r>
          </a:p>
        </p:txBody>
      </p:sp>
      <p:sp>
        <p:nvSpPr>
          <p:cNvPr id="40" name="Oval 39"/>
          <p:cNvSpPr/>
          <p:nvPr/>
        </p:nvSpPr>
        <p:spPr>
          <a:xfrm>
            <a:off x="6524244" y="4581144"/>
            <a:ext cx="256032" cy="256032"/>
          </a:xfrm>
          <a:prstGeom prst="ellipse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03620" y="4855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K 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3620" y="5001768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$441M</a:t>
            </a:r>
          </a:p>
        </p:txBody>
      </p:sp>
      <p:sp>
        <p:nvSpPr>
          <p:cNvPr id="43" name="Oval 42"/>
          <p:cNvSpPr/>
          <p:nvPr/>
        </p:nvSpPr>
        <p:spPr>
          <a:xfrm>
            <a:off x="7397496" y="5184648"/>
            <a:ext cx="237744" cy="237744"/>
          </a:xfrm>
          <a:prstGeom prst="ellipse">
            <a:avLst/>
          </a:prstGeom>
          <a:solidFill>
            <a:srgbClr val="7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7728" y="54406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Included Health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586984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$344M</a:t>
            </a:r>
          </a:p>
        </p:txBody>
      </p:sp>
      <p:sp>
        <p:nvSpPr>
          <p:cNvPr id="46" name="Oval 45"/>
          <p:cNvSpPr/>
          <p:nvPr/>
        </p:nvSpPr>
        <p:spPr>
          <a:xfrm>
            <a:off x="9441180" y="4937760"/>
            <a:ext cx="182880" cy="182880"/>
          </a:xfrm>
          <a:prstGeom prst="ellipse">
            <a:avLst/>
          </a:prstGeom>
          <a:solidFill>
            <a:srgbClr val="8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3980" y="5138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Accolade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83980" y="528523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Calibri"/>
              </a:defRPr>
            </a:pPr>
            <a:r>
              <a:t>Public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84C6A"/>
                </a:solidFill>
                <a:latin typeface="Calibri"/>
              </a:defRPr>
            </a:pPr>
            <a:r>
              <a:t>COMPETITION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F36"/>
                </a:solidFill>
                <a:latin typeface="Calibri"/>
              </a:defRPr>
            </a:pPr>
            <a:r>
              <a:t>The top-right quadrant is empty.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Calibri"/>
              </a:defRPr>
            </a:pPr>
            <a:r>
              <a:t>No product combines high explainability with broad distribution. $3.7B in funding sits outside the target zone.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40"/>
            <a:ext cx="10058400" cy="2286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554480"/>
            <a:ext cx="22860" cy="48463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65379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Distribution /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F36"/>
                </a:solidFill>
                <a:latin typeface="Calibri"/>
              </a:defRPr>
            </a:pPr>
            <a:r>
              <a:t>Explainability /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0C8D0"/>
                </a:solidFill>
                <a:latin typeface="Calibri"/>
              </a:defRPr>
            </a:pPr>
            <a:r>
              <a:t>NICHE EXPERTS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6002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C0C8D0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6126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0C8D0"/>
                </a:solidFill>
                <a:latin typeface="Calibri"/>
              </a:defRPr>
            </a:pPr>
            <a:r>
              <a:t>CASH-PAY / ALTERNATIVE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6126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C0C8D0"/>
                </a:solidFill>
                <a:latin typeface="Calibri"/>
              </a:defRPr>
            </a:pPr>
            <a:r>
              <a:t>OPAQUE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544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023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5029200" cy="2423160"/>
          </a:xfrm>
          <a:prstGeom prst="rect">
            <a:avLst/>
          </a:prstGeom>
          <a:solidFill>
            <a:srgbClr val="FDF2F4"/>
          </a:solidFill>
          <a:ln w="12700">
            <a:solidFill>
              <a:srgbClr val="D4959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6459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20" name="Oval 19"/>
          <p:cNvSpPr/>
          <p:nvPr/>
        </p:nvSpPr>
        <p:spPr>
          <a:xfrm>
            <a:off x="2779776" y="2008022"/>
            <a:ext cx="256032" cy="256032"/>
          </a:xfrm>
          <a:prstGeom prst="ellipse">
            <a:avLst/>
          </a:prstGeom>
          <a:solidFill>
            <a:srgbClr val="6B8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4872" y="228234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FAIR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4872" y="2410358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Benchmarks</a:t>
            </a:r>
          </a:p>
        </p:txBody>
      </p:sp>
      <p:sp>
        <p:nvSpPr>
          <p:cNvPr id="23" name="Oval 22"/>
          <p:cNvSpPr/>
          <p:nvPr/>
        </p:nvSpPr>
        <p:spPr>
          <a:xfrm>
            <a:off x="3767328" y="2474366"/>
            <a:ext cx="292608" cy="292608"/>
          </a:xfrm>
          <a:prstGeom prst="ellipse">
            <a:avLst/>
          </a:prstGeom>
          <a:solidFill>
            <a:srgbClr val="5B7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278526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Turquoise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913278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$95M · B2B</a:t>
            </a:r>
          </a:p>
        </p:txBody>
      </p:sp>
      <p:sp>
        <p:nvSpPr>
          <p:cNvPr id="26" name="Oval 25"/>
          <p:cNvSpPr/>
          <p:nvPr/>
        </p:nvSpPr>
        <p:spPr>
          <a:xfrm>
            <a:off x="2523744" y="3023006"/>
            <a:ext cx="164592" cy="164592"/>
          </a:xfrm>
          <a:prstGeom prst="ellipse">
            <a:avLst/>
          </a:prstGeom>
          <a:solidFill>
            <a:srgbClr val="7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320588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Serif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333902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B2B</a:t>
            </a:r>
          </a:p>
        </p:txBody>
      </p:sp>
      <p:sp>
        <p:nvSpPr>
          <p:cNvPr id="29" name="Oval 28"/>
          <p:cNvSpPr/>
          <p:nvPr/>
        </p:nvSpPr>
        <p:spPr>
          <a:xfrm>
            <a:off x="9153143" y="1944014"/>
            <a:ext cx="384048" cy="384048"/>
          </a:xfrm>
          <a:prstGeom prst="ellipse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7" y="234635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A84C6A"/>
                </a:solidFill>
                <a:latin typeface="Calibri"/>
              </a:defRPr>
            </a:pPr>
            <a:r>
              <a:t>CareCost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7" y="2474366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Consumer + B2B</a:t>
            </a:r>
          </a:p>
        </p:txBody>
      </p:sp>
      <p:sp>
        <p:nvSpPr>
          <p:cNvPr id="32" name="Oval 31"/>
          <p:cNvSpPr/>
          <p:nvPr/>
        </p:nvSpPr>
        <p:spPr>
          <a:xfrm>
            <a:off x="3172968" y="4422038"/>
            <a:ext cx="274320" cy="2743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7208" y="471464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GoodRx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7208" y="4842662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$797M · Rx</a:t>
            </a:r>
          </a:p>
        </p:txBody>
      </p:sp>
      <p:sp>
        <p:nvSpPr>
          <p:cNvPr id="35" name="Oval 34"/>
          <p:cNvSpPr/>
          <p:nvPr/>
        </p:nvSpPr>
        <p:spPr>
          <a:xfrm>
            <a:off x="7479792" y="4306824"/>
            <a:ext cx="310896" cy="310896"/>
          </a:xfrm>
          <a:prstGeom prst="ellipse">
            <a:avLst/>
          </a:prstGeom>
          <a:solidFill>
            <a:srgbClr val="D4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6360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Insurer 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64024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UHC·Cigna</a:t>
            </a:r>
          </a:p>
        </p:txBody>
      </p:sp>
      <p:sp>
        <p:nvSpPr>
          <p:cNvPr id="38" name="Oval 37"/>
          <p:cNvSpPr/>
          <p:nvPr/>
        </p:nvSpPr>
        <p:spPr>
          <a:xfrm>
            <a:off x="8814816" y="4721961"/>
            <a:ext cx="256032" cy="256032"/>
          </a:xfrm>
          <a:prstGeom prst="ellipse">
            <a:avLst/>
          </a:prstGeom>
          <a:solidFill>
            <a:srgbClr val="6B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4996281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Transcarent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5124297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$940M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4158691"/>
            <a:ext cx="219456" cy="219456"/>
          </a:xfrm>
          <a:prstGeom prst="ellipse">
            <a:avLst/>
          </a:prstGeom>
          <a:solidFill>
            <a:srgbClr val="9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24728" y="4396435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Ada Health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4728" y="4524451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$167M</a:t>
            </a:r>
          </a:p>
        </p:txBody>
      </p:sp>
      <p:sp>
        <p:nvSpPr>
          <p:cNvPr id="44" name="Oval 43"/>
          <p:cNvSpPr/>
          <p:nvPr/>
        </p:nvSpPr>
        <p:spPr>
          <a:xfrm>
            <a:off x="6812280" y="4731105"/>
            <a:ext cx="237744" cy="237744"/>
          </a:xfrm>
          <a:prstGeom prst="ellipse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498713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K Health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5115153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$441M</a:t>
            </a:r>
          </a:p>
        </p:txBody>
      </p:sp>
      <p:sp>
        <p:nvSpPr>
          <p:cNvPr id="47" name="Oval 46"/>
          <p:cNvSpPr/>
          <p:nvPr/>
        </p:nvSpPr>
        <p:spPr>
          <a:xfrm>
            <a:off x="7827264" y="5321808"/>
            <a:ext cx="219456" cy="219456"/>
          </a:xfrm>
          <a:prstGeom prst="ellipse">
            <a:avLst/>
          </a:prstGeom>
          <a:solidFill>
            <a:srgbClr val="7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4072" y="555955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Included Health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4072" y="5687568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$344M</a:t>
            </a:r>
          </a:p>
        </p:txBody>
      </p:sp>
      <p:sp>
        <p:nvSpPr>
          <p:cNvPr id="50" name="Oval 49"/>
          <p:cNvSpPr/>
          <p:nvPr/>
        </p:nvSpPr>
        <p:spPr>
          <a:xfrm>
            <a:off x="9857232" y="5097780"/>
            <a:ext cx="182880" cy="182880"/>
          </a:xfrm>
          <a:prstGeom prst="ellipse">
            <a:avLst/>
          </a:prstGeom>
          <a:solidFill>
            <a:srgbClr val="8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52989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Accolade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5752" y="5426964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3" name="Oval 52"/>
          <p:cNvSpPr/>
          <p:nvPr/>
        </p:nvSpPr>
        <p:spPr>
          <a:xfrm>
            <a:off x="10277856" y="5600700"/>
            <a:ext cx="146304" cy="146304"/>
          </a:xfrm>
          <a:prstGeom prst="ellipse">
            <a:avLst/>
          </a:prstGeom>
          <a:solidFill>
            <a:srgbClr val="9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48088" y="576529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Calibri"/>
              </a:defRPr>
            </a:pPr>
            <a:r>
              <a:t>Rightway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8088" y="5893308"/>
            <a:ext cx="1005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Calibri"/>
              </a:defRPr>
            </a:pPr>
            <a:r>
              <a:t>$130M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84C6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F36"/>
                </a:solidFill>
                <a:latin typeface="Calibri"/>
              </a:defRPr>
            </a:pPr>
            <a:r>
              <a:t>Free government data. Near-zero marginal cost. Four revenue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75569"/>
                </a:solidFill>
                <a:latin typeface="Calibri"/>
              </a:defRPr>
            </a:pPr>
            <a:r>
              <a:t>GoodRx built $797M/yr on free prescription data with ~90% gross margins. CareCost applies the same structural model to 100+ TB of mandated procedure pricing -- a 10x larger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00" cy="36576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REVENUE 1 -- B2B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Compliance-as-a-Service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Automated Good Faith Estimates and CMS compliance documentation. Providers face $2M/yr fines for non-compliance starting April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$4-15 PMPM or per-estimate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657600" cy="36576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REVENUE 2 -- CONSUMER DTC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Free Tier +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Free cost search for everyone. Premium tier adds personalized out-of-pocket estimates with insurance-specific calculations.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91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Freemium conversion on high-intent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657600" cy="36576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REVENUE 3 -- DATA/API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F36"/>
                </a:solidFill>
                <a:latin typeface="Calibri"/>
              </a:defRPr>
            </a:pPr>
            <a:r>
              <a:t>Infrastructure 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Cleaned, structured pricing data via API for navigation platforms, employer benefits tools, and health plan comparisons.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918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Per-query or annual license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05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A84C6A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Yale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62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Free tool for students + staff.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A84C6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9319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4005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A84C6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206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327 R1+R2 Universities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462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Campus-by-campus expansion.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A84C6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319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005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A84C6A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06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Employer 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462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Self-service HR dashboards.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A84C6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39319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4005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A84C6A"/>
                </a:solidFill>
                <a:latin typeface="Calibri"/>
              </a:defRPr>
            </a:pPr>
            <a:r>
              <a:t>YEAR 3+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206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F36"/>
                </a:solidFill>
                <a:latin typeface="Calibri"/>
              </a:defRPr>
            </a:pPr>
            <a:r>
              <a:t>Data Infrastructure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462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API layer for healthcare cost ecosystem.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578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DEFENSIBLE</a:t>
            </a:r>
            <a:br/>
            <a:r>
              <a:t>MOAT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257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Bad data IS the moat.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486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21% compliance, 65% non-standard formats. If it were clean, Google would own this.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257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Dual flywheel.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5486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Consumer feedback improves data. Better data improves B2B. More providers improve consumer product.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5257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Regulatory tailwind.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486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April 2026 CMS enforcement: $2M/yr fines. Compliance drives both data supply and provider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84C6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F36"/>
                </a:solidFill>
                <a:latin typeface="Calibri"/>
              </a:defRPr>
            </a:pPr>
            <a:r>
              <a:t>The GoodRx playbook, applied to procedures.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A8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GOODRX PRECEDENT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F36"/>
                </a:solidFill>
                <a:latin typeface="Calibri"/>
              </a:defRPr>
            </a:pPr>
            <a:r>
              <a:t>$797M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annual revenue, ~90% gross margin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18288" cy="822960"/>
          </a:xfrm>
          <a:prstGeom prst="rect">
            <a:avLst/>
          </a:prstGeom>
          <a:solidFill>
            <a:srgbClr val="E8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Calibri"/>
              </a:defRPr>
            </a:pPr>
            <a:r>
              <a:t>GoodRx monetized free government prescription data that nobody else could organize. CareCost does the same with 100+ TB of mandated procedure pricing -- a far larger, messier, higher-stakes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F36"/>
                </a:solidFill>
                <a:latin typeface="Calibri"/>
              </a:defRPr>
            </a:pPr>
            <a:r>
              <a:t>Provider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Automated Good Faith Estimates and CMS compliance docs. Providers face $2M/yr fines.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2331720" cy="9144"/>
          </a:xfrm>
          <a:prstGeom prst="rect">
            <a:avLst/>
          </a:prstGeom>
          <a:solidFill>
            <a:srgbClr val="E8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$4-15 PMPM or per-estimate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7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Revenue from Day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651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7889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F36"/>
                </a:solidFill>
                <a:latin typeface="Calibri"/>
              </a:defRPr>
            </a:pPr>
            <a:r>
              <a:t>Consumer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10896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Free cost search drives adoption. Premium tier adds personalized OOP estimates.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4206240"/>
            <a:ext cx="2331720" cy="9144"/>
          </a:xfrm>
          <a:prstGeom prst="rect">
            <a:avLst/>
          </a:prstGeom>
          <a:solidFill>
            <a:srgbClr val="E8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42976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Freemium + premium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452627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Acquisition engine, then monetize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651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7889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F36"/>
                </a:solidFill>
                <a:latin typeface="Calibri"/>
              </a:defRPr>
            </a:pPr>
            <a:r>
              <a:t>Data &amp;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10896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Cleaned, normalized pricing data via API. Navigation platforms need this infrastructure.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4206240"/>
            <a:ext cx="2331720" cy="9144"/>
          </a:xfrm>
          <a:prstGeom prst="rect">
            <a:avLst/>
          </a:prstGeom>
          <a:solidFill>
            <a:srgbClr val="E8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42976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Per-query or annual license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52627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Year 2+ as dataset matures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7424" y="2651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27889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F36"/>
                </a:solidFill>
                <a:latin typeface="Calibri"/>
              </a:defRPr>
            </a:pPr>
            <a:r>
              <a:t>Employer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10896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Calibri"/>
              </a:defRPr>
            </a:pPr>
            <a:r>
              <a:t>Self-service dashboards for HR. Employers save on claims when employees shop on price.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4206240"/>
            <a:ext cx="2331720" cy="9144"/>
          </a:xfrm>
          <a:prstGeom prst="rect">
            <a:avLst/>
          </a:prstGeom>
          <a:solidFill>
            <a:srgbClr val="E8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0304" y="42976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Per-employee or enterprise seat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452627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Year 2+ via B2B expansion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40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A84C6A"/>
                </a:solidFill>
                <a:latin typeface="Calibri"/>
              </a:defRPr>
            </a:pPr>
            <a:r>
              <a:t>WHY US,</a:t>
            </a:r>
            <a:br/>
            <a:r>
              <a:t>NOT GOOGLE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394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Bad data IS the moat.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623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21% compliance, 65% non-standard. Cleaning this data is hard, unglamorous work no big tech will do.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394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Dual flywheel compounds.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623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Consumer feedback corrects data. Better data attracts providers. More providers improve estimates.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394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Enforcement is accelerating.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623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April 2026 CMS fines ($2M/yr) drive both data supply and provider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