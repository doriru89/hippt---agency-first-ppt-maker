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AF8"/>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A84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3657600" cy="274320"/>
          </a:xfrm>
          <a:prstGeom prst="rect">
            <a:avLst/>
          </a:prstGeom>
          <a:noFill/>
        </p:spPr>
        <p:txBody>
          <a:bodyPr wrap="square">
            <a:spAutoFit/>
          </a:bodyPr>
          <a:lstStyle/>
          <a:p>
            <a:pPr algn="l">
              <a:defRPr sz="1100" b="1" i="0">
                <a:solidFill>
                  <a:srgbClr val="A84C6A"/>
                </a:solidFill>
                <a:latin typeface="Calibri"/>
              </a:defRPr>
            </a:pPr>
            <a:r>
              <a:t>MARKET + SOLUTION</a:t>
            </a:r>
          </a:p>
        </p:txBody>
      </p:sp>
      <p:sp>
        <p:nvSpPr>
          <p:cNvPr id="4" name="TextBox 3"/>
          <p:cNvSpPr txBox="1"/>
          <p:nvPr/>
        </p:nvSpPr>
        <p:spPr>
          <a:xfrm>
            <a:off x="822960" y="914400"/>
            <a:ext cx="10058400" cy="548640"/>
          </a:xfrm>
          <a:prstGeom prst="rect">
            <a:avLst/>
          </a:prstGeom>
          <a:noFill/>
        </p:spPr>
        <p:txBody>
          <a:bodyPr wrap="square">
            <a:spAutoFit/>
          </a:bodyPr>
          <a:lstStyle/>
          <a:p>
            <a:pPr algn="l">
              <a:defRPr sz="2800" b="1" i="0">
                <a:solidFill>
                  <a:srgbClr val="1A1F36"/>
                </a:solidFill>
                <a:latin typeface="Calibri"/>
              </a:defRPr>
            </a:pPr>
            <a:r>
              <a:t>The data is finally real. The market has no solution. We have both.</a:t>
            </a:r>
          </a:p>
        </p:txBody>
      </p:sp>
      <p:sp>
        <p:nvSpPr>
          <p:cNvPr id="5" name="Rectangle 4"/>
          <p:cNvSpPr/>
          <p:nvPr/>
        </p:nvSpPr>
        <p:spPr>
          <a:xfrm>
            <a:off x="822960" y="1691640"/>
            <a:ext cx="2651760" cy="1188720"/>
          </a:xfrm>
          <a:prstGeom prst="rect">
            <a:avLst/>
          </a:prstGeom>
          <a:solidFill>
            <a:srgbClr val="FFFFFF"/>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2286000" cy="411480"/>
          </a:xfrm>
          <a:prstGeom prst="rect">
            <a:avLst/>
          </a:prstGeom>
          <a:noFill/>
        </p:spPr>
        <p:txBody>
          <a:bodyPr wrap="square">
            <a:spAutoFit/>
          </a:bodyPr>
          <a:lstStyle/>
          <a:p>
            <a:pPr algn="l">
              <a:defRPr sz="2800" b="1" i="0">
                <a:solidFill>
                  <a:srgbClr val="D4959D"/>
                </a:solidFill>
                <a:latin typeface="Calibri"/>
              </a:defRPr>
            </a:pPr>
            <a:r>
              <a:t>$556.6B</a:t>
            </a:r>
          </a:p>
        </p:txBody>
      </p:sp>
      <p:sp>
        <p:nvSpPr>
          <p:cNvPr id="7" name="TextBox 6"/>
          <p:cNvSpPr txBox="1"/>
          <p:nvPr/>
        </p:nvSpPr>
        <p:spPr>
          <a:xfrm>
            <a:off x="1005840" y="2194560"/>
            <a:ext cx="2286000" cy="365760"/>
          </a:xfrm>
          <a:prstGeom prst="rect">
            <a:avLst/>
          </a:prstGeom>
          <a:noFill/>
        </p:spPr>
        <p:txBody>
          <a:bodyPr wrap="square">
            <a:spAutoFit/>
          </a:bodyPr>
          <a:lstStyle/>
          <a:p>
            <a:pPr algn="l">
              <a:defRPr sz="1100" b="0" i="0">
                <a:solidFill>
                  <a:srgbClr val="1A1F36"/>
                </a:solidFill>
                <a:latin typeface="Calibri"/>
              </a:defRPr>
            </a:pPr>
            <a:r>
              <a:t>US out-of-pocket healthcare spend</a:t>
            </a:r>
          </a:p>
        </p:txBody>
      </p:sp>
      <p:sp>
        <p:nvSpPr>
          <p:cNvPr id="8" name="TextBox 7"/>
          <p:cNvSpPr txBox="1"/>
          <p:nvPr/>
        </p:nvSpPr>
        <p:spPr>
          <a:xfrm>
            <a:off x="1005840" y="2560320"/>
            <a:ext cx="2286000" cy="228600"/>
          </a:xfrm>
          <a:prstGeom prst="rect">
            <a:avLst/>
          </a:prstGeom>
          <a:noFill/>
        </p:spPr>
        <p:txBody>
          <a:bodyPr wrap="square">
            <a:spAutoFit/>
          </a:bodyPr>
          <a:lstStyle/>
          <a:p>
            <a:pPr algn="l">
              <a:defRPr sz="900" b="0" i="1">
                <a:solidFill>
                  <a:srgbClr val="64748B"/>
                </a:solidFill>
                <a:latin typeface="Calibri"/>
              </a:defRPr>
            </a:pPr>
            <a:r>
              <a:t>CMS NHE Fact Sheet 2024</a:t>
            </a:r>
          </a:p>
        </p:txBody>
      </p:sp>
      <p:sp>
        <p:nvSpPr>
          <p:cNvPr id="9" name="Rectangle 8"/>
          <p:cNvSpPr/>
          <p:nvPr/>
        </p:nvSpPr>
        <p:spPr>
          <a:xfrm>
            <a:off x="3657600" y="1691640"/>
            <a:ext cx="2651760" cy="1188720"/>
          </a:xfrm>
          <a:prstGeom prst="rect">
            <a:avLst/>
          </a:prstGeom>
          <a:solidFill>
            <a:srgbClr val="FFFFFF"/>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0480" y="1828800"/>
            <a:ext cx="2286000" cy="411480"/>
          </a:xfrm>
          <a:prstGeom prst="rect">
            <a:avLst/>
          </a:prstGeom>
          <a:noFill/>
        </p:spPr>
        <p:txBody>
          <a:bodyPr wrap="square">
            <a:spAutoFit/>
          </a:bodyPr>
          <a:lstStyle/>
          <a:p>
            <a:pPr algn="l">
              <a:defRPr sz="2800" b="1" i="0">
                <a:solidFill>
                  <a:srgbClr val="C14545"/>
                </a:solidFill>
                <a:latin typeface="Calibri"/>
              </a:defRPr>
            </a:pPr>
            <a:r>
              <a:t>16%</a:t>
            </a:r>
          </a:p>
        </p:txBody>
      </p:sp>
      <p:sp>
        <p:nvSpPr>
          <p:cNvPr id="11" name="TextBox 10"/>
          <p:cNvSpPr txBox="1"/>
          <p:nvPr/>
        </p:nvSpPr>
        <p:spPr>
          <a:xfrm>
            <a:off x="3840480" y="2194560"/>
            <a:ext cx="2286000" cy="365760"/>
          </a:xfrm>
          <a:prstGeom prst="rect">
            <a:avLst/>
          </a:prstGeom>
          <a:noFill/>
        </p:spPr>
        <p:txBody>
          <a:bodyPr wrap="square">
            <a:spAutoFit/>
          </a:bodyPr>
          <a:lstStyle/>
          <a:p>
            <a:pPr algn="l">
              <a:defRPr sz="1100" b="0" i="0">
                <a:solidFill>
                  <a:srgbClr val="1A1F36"/>
                </a:solidFill>
                <a:latin typeface="Calibri"/>
              </a:defRPr>
            </a:pPr>
            <a:r>
              <a:t>hospitals fully compliant with price transparency</a:t>
            </a:r>
          </a:p>
        </p:txBody>
      </p:sp>
      <p:sp>
        <p:nvSpPr>
          <p:cNvPr id="12" name="TextBox 11"/>
          <p:cNvSpPr txBox="1"/>
          <p:nvPr/>
        </p:nvSpPr>
        <p:spPr>
          <a:xfrm>
            <a:off x="3840480" y="2560320"/>
            <a:ext cx="2286000" cy="228600"/>
          </a:xfrm>
          <a:prstGeom prst="rect">
            <a:avLst/>
          </a:prstGeom>
          <a:noFill/>
        </p:spPr>
        <p:txBody>
          <a:bodyPr wrap="square">
            <a:spAutoFit/>
          </a:bodyPr>
          <a:lstStyle/>
          <a:p>
            <a:pPr algn="l">
              <a:defRPr sz="900" b="0" i="1">
                <a:solidFill>
                  <a:srgbClr val="64748B"/>
                </a:solidFill>
                <a:latin typeface="Calibri"/>
              </a:defRPr>
            </a:pPr>
            <a:r>
              <a:t>PRA Interim Report, Sept 2025</a:t>
            </a:r>
          </a:p>
        </p:txBody>
      </p:sp>
      <p:sp>
        <p:nvSpPr>
          <p:cNvPr id="13" name="Rectangle 12"/>
          <p:cNvSpPr/>
          <p:nvPr/>
        </p:nvSpPr>
        <p:spPr>
          <a:xfrm>
            <a:off x="6492240" y="1691640"/>
            <a:ext cx="2651760" cy="1188720"/>
          </a:xfrm>
          <a:prstGeom prst="rect">
            <a:avLst/>
          </a:prstGeom>
          <a:solidFill>
            <a:srgbClr val="FFFFFF"/>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0" y="1828800"/>
            <a:ext cx="2286000" cy="411480"/>
          </a:xfrm>
          <a:prstGeom prst="rect">
            <a:avLst/>
          </a:prstGeom>
          <a:noFill/>
        </p:spPr>
        <p:txBody>
          <a:bodyPr wrap="square">
            <a:spAutoFit/>
          </a:bodyPr>
          <a:lstStyle/>
          <a:p>
            <a:pPr algn="l">
              <a:defRPr sz="2800" b="1" i="0">
                <a:solidFill>
                  <a:srgbClr val="B8893D"/>
                </a:solidFill>
                <a:latin typeface="Calibri"/>
              </a:defRPr>
            </a:pPr>
            <a:r>
              <a:t>2–13%</a:t>
            </a:r>
          </a:p>
        </p:txBody>
      </p:sp>
      <p:sp>
        <p:nvSpPr>
          <p:cNvPr id="15" name="TextBox 14"/>
          <p:cNvSpPr txBox="1"/>
          <p:nvPr/>
        </p:nvSpPr>
        <p:spPr>
          <a:xfrm>
            <a:off x="6675120" y="2194560"/>
            <a:ext cx="2286000" cy="365760"/>
          </a:xfrm>
          <a:prstGeom prst="rect">
            <a:avLst/>
          </a:prstGeom>
          <a:noFill/>
        </p:spPr>
        <p:txBody>
          <a:bodyPr wrap="square">
            <a:spAutoFit/>
          </a:bodyPr>
          <a:lstStyle/>
          <a:p>
            <a:pPr algn="l">
              <a:defRPr sz="1100" b="0" i="0">
                <a:solidFill>
                  <a:srgbClr val="1A1F36"/>
                </a:solidFill>
                <a:latin typeface="Calibri"/>
              </a:defRPr>
            </a:pPr>
            <a:r>
              <a:t>of consumers use cost estimator tools</a:t>
            </a:r>
          </a:p>
        </p:txBody>
      </p:sp>
      <p:sp>
        <p:nvSpPr>
          <p:cNvPr id="16" name="TextBox 15"/>
          <p:cNvSpPr txBox="1"/>
          <p:nvPr/>
        </p:nvSpPr>
        <p:spPr>
          <a:xfrm>
            <a:off x="6675120" y="2560320"/>
            <a:ext cx="2286000" cy="228600"/>
          </a:xfrm>
          <a:prstGeom prst="rect">
            <a:avLst/>
          </a:prstGeom>
          <a:noFill/>
        </p:spPr>
        <p:txBody>
          <a:bodyPr wrap="square">
            <a:spAutoFit/>
          </a:bodyPr>
          <a:lstStyle/>
          <a:p>
            <a:pPr algn="l">
              <a:defRPr sz="900" b="0" i="1">
                <a:solidFill>
                  <a:srgbClr val="64748B"/>
                </a:solidFill>
                <a:latin typeface="Calibri"/>
              </a:defRPr>
            </a:pPr>
            <a:r>
              <a:t>JAMA, Health Affairs, PMC11129567</a:t>
            </a:r>
          </a:p>
        </p:txBody>
      </p:sp>
      <p:sp>
        <p:nvSpPr>
          <p:cNvPr id="17" name="Rectangle 16"/>
          <p:cNvSpPr/>
          <p:nvPr/>
        </p:nvSpPr>
        <p:spPr>
          <a:xfrm>
            <a:off x="9326880" y="1691640"/>
            <a:ext cx="2651760" cy="1188720"/>
          </a:xfrm>
          <a:prstGeom prst="rect">
            <a:avLst/>
          </a:prstGeom>
          <a:solidFill>
            <a:srgbClr val="FFFFFF"/>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09760" y="1828800"/>
            <a:ext cx="2286000" cy="411480"/>
          </a:xfrm>
          <a:prstGeom prst="rect">
            <a:avLst/>
          </a:prstGeom>
          <a:noFill/>
        </p:spPr>
        <p:txBody>
          <a:bodyPr wrap="square">
            <a:spAutoFit/>
          </a:bodyPr>
          <a:lstStyle/>
          <a:p>
            <a:pPr algn="l">
              <a:defRPr sz="2800" b="1" i="0">
                <a:solidFill>
                  <a:srgbClr val="2F4C8C"/>
                </a:solidFill>
                <a:latin typeface="Calibri"/>
              </a:defRPr>
            </a:pPr>
            <a:r>
              <a:t>91%</a:t>
            </a:r>
          </a:p>
        </p:txBody>
      </p:sp>
      <p:sp>
        <p:nvSpPr>
          <p:cNvPr id="19" name="TextBox 18"/>
          <p:cNvSpPr txBox="1"/>
          <p:nvPr/>
        </p:nvSpPr>
        <p:spPr>
          <a:xfrm>
            <a:off x="9509760" y="2194560"/>
            <a:ext cx="2286000" cy="365760"/>
          </a:xfrm>
          <a:prstGeom prst="rect">
            <a:avLst/>
          </a:prstGeom>
          <a:noFill/>
        </p:spPr>
        <p:txBody>
          <a:bodyPr wrap="square">
            <a:spAutoFit/>
          </a:bodyPr>
          <a:lstStyle/>
          <a:p>
            <a:pPr algn="l">
              <a:defRPr sz="1100" b="0" i="0">
                <a:solidFill>
                  <a:srgbClr val="1A1F36"/>
                </a:solidFill>
                <a:latin typeface="Calibri"/>
              </a:defRPr>
            </a:pPr>
            <a:r>
              <a:t>of consumers distrust healthcare pricing tools</a:t>
            </a:r>
          </a:p>
        </p:txBody>
      </p:sp>
      <p:sp>
        <p:nvSpPr>
          <p:cNvPr id="20" name="TextBox 19"/>
          <p:cNvSpPr txBox="1"/>
          <p:nvPr/>
        </p:nvSpPr>
        <p:spPr>
          <a:xfrm>
            <a:off x="9509760" y="2560320"/>
            <a:ext cx="2286000" cy="228600"/>
          </a:xfrm>
          <a:prstGeom prst="rect">
            <a:avLst/>
          </a:prstGeom>
          <a:noFill/>
        </p:spPr>
        <p:txBody>
          <a:bodyPr wrap="square">
            <a:spAutoFit/>
          </a:bodyPr>
          <a:lstStyle/>
          <a:p>
            <a:pPr algn="l">
              <a:defRPr sz="900" b="0" i="1">
                <a:solidFill>
                  <a:srgbClr val="64748B"/>
                </a:solidFill>
                <a:latin typeface="Calibri"/>
              </a:defRPr>
            </a:pPr>
            <a:r>
              <a:t>JIMR 2020</a:t>
            </a:r>
          </a:p>
        </p:txBody>
      </p:sp>
      <p:sp>
        <p:nvSpPr>
          <p:cNvPr id="21" name="Rectangle 20"/>
          <p:cNvSpPr/>
          <p:nvPr/>
        </p:nvSpPr>
        <p:spPr>
          <a:xfrm>
            <a:off x="822960" y="3108960"/>
            <a:ext cx="45720" cy="228600"/>
          </a:xfrm>
          <a:prstGeom prst="rect">
            <a:avLst/>
          </a:prstGeom>
          <a:solidFill>
            <a:srgbClr val="A84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3063240"/>
            <a:ext cx="3657600" cy="320040"/>
          </a:xfrm>
          <a:prstGeom prst="rect">
            <a:avLst/>
          </a:prstGeom>
          <a:noFill/>
        </p:spPr>
        <p:txBody>
          <a:bodyPr wrap="square">
            <a:spAutoFit/>
          </a:bodyPr>
          <a:lstStyle/>
          <a:p>
            <a:pPr algn="l">
              <a:defRPr sz="1400" b="1" i="0">
                <a:solidFill>
                  <a:srgbClr val="1A1F36"/>
                </a:solidFill>
                <a:latin typeface="Calibri"/>
              </a:defRPr>
            </a:pPr>
            <a:r>
              <a:t>Why This Problem Exists Now</a:t>
            </a:r>
          </a:p>
        </p:txBody>
      </p:sp>
      <p:sp>
        <p:nvSpPr>
          <p:cNvPr id="23" name="Rectangle 22"/>
          <p:cNvSpPr/>
          <p:nvPr/>
        </p:nvSpPr>
        <p:spPr>
          <a:xfrm>
            <a:off x="822960" y="3520440"/>
            <a:ext cx="3566160" cy="1188720"/>
          </a:xfrm>
          <a:prstGeom prst="rect">
            <a:avLst/>
          </a:prstGeom>
          <a:solidFill>
            <a:srgbClr val="FFFFFF"/>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3630168"/>
            <a:ext cx="3200400" cy="274320"/>
          </a:xfrm>
          <a:prstGeom prst="rect">
            <a:avLst/>
          </a:prstGeom>
          <a:noFill/>
        </p:spPr>
        <p:txBody>
          <a:bodyPr wrap="square">
            <a:spAutoFit/>
          </a:bodyPr>
          <a:lstStyle/>
          <a:p>
            <a:pPr algn="l">
              <a:defRPr sz="1200" b="1" i="0">
                <a:solidFill>
                  <a:srgbClr val="1A1F36"/>
                </a:solidFill>
                <a:latin typeface="Calibri"/>
              </a:defRPr>
            </a:pPr>
            <a:r>
              <a:t>The Regulatory Gap</a:t>
            </a:r>
          </a:p>
        </p:txBody>
      </p:sp>
      <p:sp>
        <p:nvSpPr>
          <p:cNvPr id="25" name="TextBox 24"/>
          <p:cNvSpPr txBox="1"/>
          <p:nvPr/>
        </p:nvSpPr>
        <p:spPr>
          <a:xfrm>
            <a:off x="1005840" y="3904488"/>
            <a:ext cx="3200400" cy="731520"/>
          </a:xfrm>
          <a:prstGeom prst="rect">
            <a:avLst/>
          </a:prstGeom>
          <a:noFill/>
        </p:spPr>
        <p:txBody>
          <a:bodyPr wrap="square">
            <a:spAutoFit/>
          </a:bodyPr>
          <a:lstStyle/>
          <a:p>
            <a:pPr algn="l">
              <a:defRPr sz="1000" b="0" i="0">
                <a:solidFill>
                  <a:srgbClr val="475569"/>
                </a:solidFill>
                <a:latin typeface="Calibri"/>
              </a:defRPr>
            </a:pPr>
            <a:r>
              <a:t>CMS April 2026 enforcement arrived. Hospitals face up to $2M/year in fines for inaccurate price files. This turns compliance data into a real source we can build on.</a:t>
            </a:r>
          </a:p>
        </p:txBody>
      </p:sp>
      <p:sp>
        <p:nvSpPr>
          <p:cNvPr id="26" name="Rectangle 25"/>
          <p:cNvSpPr/>
          <p:nvPr/>
        </p:nvSpPr>
        <p:spPr>
          <a:xfrm>
            <a:off x="4526280" y="3520440"/>
            <a:ext cx="3566160" cy="1188720"/>
          </a:xfrm>
          <a:prstGeom prst="rect">
            <a:avLst/>
          </a:prstGeom>
          <a:solidFill>
            <a:srgbClr val="FFFFFF"/>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09160" y="3630168"/>
            <a:ext cx="3200400" cy="274320"/>
          </a:xfrm>
          <a:prstGeom prst="rect">
            <a:avLst/>
          </a:prstGeom>
          <a:noFill/>
        </p:spPr>
        <p:txBody>
          <a:bodyPr wrap="square">
            <a:spAutoFit/>
          </a:bodyPr>
          <a:lstStyle/>
          <a:p>
            <a:pPr algn="l">
              <a:defRPr sz="1200" b="1" i="0">
                <a:solidFill>
                  <a:srgbClr val="1A1F36"/>
                </a:solidFill>
                <a:latin typeface="Calibri"/>
              </a:defRPr>
            </a:pPr>
            <a:r>
              <a:t>The Hidden Bills</a:t>
            </a:r>
          </a:p>
        </p:txBody>
      </p:sp>
      <p:sp>
        <p:nvSpPr>
          <p:cNvPr id="28" name="TextBox 27"/>
          <p:cNvSpPr txBox="1"/>
          <p:nvPr/>
        </p:nvSpPr>
        <p:spPr>
          <a:xfrm>
            <a:off x="4709160" y="3904488"/>
            <a:ext cx="3200400" cy="731520"/>
          </a:xfrm>
          <a:prstGeom prst="rect">
            <a:avLst/>
          </a:prstGeom>
          <a:noFill/>
        </p:spPr>
        <p:txBody>
          <a:bodyPr wrap="square">
            <a:spAutoFit/>
          </a:bodyPr>
          <a:lstStyle/>
          <a:p>
            <a:pPr algn="l">
              <a:defRPr sz="1000" b="0" i="0">
                <a:solidFill>
                  <a:srgbClr val="475569"/>
                </a:solidFill>
                <a:latin typeface="Calibri"/>
              </a:defRPr>
            </a:pPr>
            <a:r>
              <a:t>A colonoscopy isn't one bill; it's four: physician fee, facility fee, anesthesia, and pathology. Every existing player lives on one track, but none bridge them all.</a:t>
            </a:r>
          </a:p>
        </p:txBody>
      </p:sp>
      <p:sp>
        <p:nvSpPr>
          <p:cNvPr id="29" name="Rectangle 28"/>
          <p:cNvSpPr/>
          <p:nvPr/>
        </p:nvSpPr>
        <p:spPr>
          <a:xfrm>
            <a:off x="8229600" y="3520440"/>
            <a:ext cx="3566160" cy="1188720"/>
          </a:xfrm>
          <a:prstGeom prst="rect">
            <a:avLst/>
          </a:prstGeom>
          <a:solidFill>
            <a:srgbClr val="FFFFFF"/>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12480" y="3630168"/>
            <a:ext cx="3200400" cy="274320"/>
          </a:xfrm>
          <a:prstGeom prst="rect">
            <a:avLst/>
          </a:prstGeom>
          <a:noFill/>
        </p:spPr>
        <p:txBody>
          <a:bodyPr wrap="square">
            <a:spAutoFit/>
          </a:bodyPr>
          <a:lstStyle/>
          <a:p>
            <a:pPr algn="l">
              <a:defRPr sz="1200" b="1" i="0">
                <a:solidFill>
                  <a:srgbClr val="1A1F36"/>
                </a:solidFill>
                <a:latin typeface="Calibri"/>
              </a:defRPr>
            </a:pPr>
            <a:r>
              <a:t>The AI Gap</a:t>
            </a:r>
          </a:p>
        </p:txBody>
      </p:sp>
      <p:sp>
        <p:nvSpPr>
          <p:cNvPr id="31" name="TextBox 30"/>
          <p:cNvSpPr txBox="1"/>
          <p:nvPr/>
        </p:nvSpPr>
        <p:spPr>
          <a:xfrm>
            <a:off x="8412480" y="3904488"/>
            <a:ext cx="3200400" cy="731520"/>
          </a:xfrm>
          <a:prstGeom prst="rect">
            <a:avLst/>
          </a:prstGeom>
          <a:noFill/>
        </p:spPr>
        <p:txBody>
          <a:bodyPr wrap="square">
            <a:spAutoFit/>
          </a:bodyPr>
          <a:lstStyle/>
          <a:p>
            <a:pPr algn="l">
              <a:defRPr sz="1000" b="0" i="0">
                <a:solidFill>
                  <a:srgbClr val="475569"/>
                </a:solidFill>
                <a:latin typeface="Calibri"/>
              </a:defRPr>
            </a:pPr>
            <a:r>
              <a:t>AI symptom checkers (Ada Health, K Health) route to appointments but show no costs. We bridge the clinical and financial data domains to solve the trust deficit.</a:t>
            </a:r>
          </a:p>
        </p:txBody>
      </p:sp>
      <p:sp>
        <p:nvSpPr>
          <p:cNvPr id="32" name="Rectangle 31"/>
          <p:cNvSpPr/>
          <p:nvPr/>
        </p:nvSpPr>
        <p:spPr>
          <a:xfrm>
            <a:off x="822960" y="4937760"/>
            <a:ext cx="45720" cy="228600"/>
          </a:xfrm>
          <a:prstGeom prst="rect">
            <a:avLst/>
          </a:prstGeom>
          <a:solidFill>
            <a:srgbClr val="A84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05840" y="4892040"/>
            <a:ext cx="3657600" cy="320040"/>
          </a:xfrm>
          <a:prstGeom prst="rect">
            <a:avLst/>
          </a:prstGeom>
          <a:noFill/>
        </p:spPr>
        <p:txBody>
          <a:bodyPr wrap="square">
            <a:spAutoFit/>
          </a:bodyPr>
          <a:lstStyle/>
          <a:p>
            <a:pPr algn="l">
              <a:defRPr sz="1400" b="1" i="0">
                <a:solidFill>
                  <a:srgbClr val="1A1F36"/>
                </a:solidFill>
                <a:latin typeface="Calibri"/>
              </a:defRPr>
            </a:pPr>
            <a:r>
              <a:t>Regulatory Milestones</a:t>
            </a:r>
          </a:p>
        </p:txBody>
      </p:sp>
      <p:sp>
        <p:nvSpPr>
          <p:cNvPr id="34" name="Rectangle 33"/>
          <p:cNvSpPr/>
          <p:nvPr/>
        </p:nvSpPr>
        <p:spPr>
          <a:xfrm>
            <a:off x="1371600" y="5486400"/>
            <a:ext cx="9601200" cy="27432"/>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920240" y="5431536"/>
            <a:ext cx="128016" cy="128016"/>
          </a:xfrm>
          <a:prstGeom prst="ellipse">
            <a:avLst/>
          </a:prstGeom>
          <a:solidFill>
            <a:srgbClr val="2F4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371600" y="5623560"/>
            <a:ext cx="1280160" cy="182880"/>
          </a:xfrm>
          <a:prstGeom prst="rect">
            <a:avLst/>
          </a:prstGeom>
          <a:noFill/>
        </p:spPr>
        <p:txBody>
          <a:bodyPr wrap="square">
            <a:spAutoFit/>
          </a:bodyPr>
          <a:lstStyle/>
          <a:p>
            <a:pPr algn="ctr">
              <a:defRPr sz="900" b="0" i="0">
                <a:solidFill>
                  <a:srgbClr val="64748B"/>
                </a:solidFill>
                <a:latin typeface="Calibri"/>
              </a:defRPr>
            </a:pPr>
            <a:r>
              <a:t>Jan 2021</a:t>
            </a:r>
          </a:p>
        </p:txBody>
      </p:sp>
      <p:sp>
        <p:nvSpPr>
          <p:cNvPr id="37" name="TextBox 36"/>
          <p:cNvSpPr txBox="1"/>
          <p:nvPr/>
        </p:nvSpPr>
        <p:spPr>
          <a:xfrm>
            <a:off x="1371600" y="5779008"/>
            <a:ext cx="1280160" cy="182880"/>
          </a:xfrm>
          <a:prstGeom prst="rect">
            <a:avLst/>
          </a:prstGeom>
          <a:noFill/>
        </p:spPr>
        <p:txBody>
          <a:bodyPr wrap="square">
            <a:spAutoFit/>
          </a:bodyPr>
          <a:lstStyle/>
          <a:p>
            <a:pPr algn="ctr">
              <a:defRPr sz="1000" b="1" i="0">
                <a:solidFill>
                  <a:srgbClr val="2F4C8C"/>
                </a:solidFill>
                <a:latin typeface="Calibri"/>
              </a:defRPr>
            </a:pPr>
            <a:r>
              <a:t>HPT Rule</a:t>
            </a:r>
          </a:p>
        </p:txBody>
      </p:sp>
      <p:sp>
        <p:nvSpPr>
          <p:cNvPr id="38" name="TextBox 37"/>
          <p:cNvSpPr txBox="1"/>
          <p:nvPr/>
        </p:nvSpPr>
        <p:spPr>
          <a:xfrm>
            <a:off x="1371600" y="5943600"/>
            <a:ext cx="1280160" cy="228600"/>
          </a:xfrm>
          <a:prstGeom prst="rect">
            <a:avLst/>
          </a:prstGeom>
          <a:noFill/>
        </p:spPr>
        <p:txBody>
          <a:bodyPr wrap="square">
            <a:spAutoFit/>
          </a:bodyPr>
          <a:lstStyle/>
          <a:p>
            <a:pPr algn="ctr">
              <a:defRPr sz="900" b="0" i="0">
                <a:solidFill>
                  <a:srgbClr val="64748B"/>
                </a:solidFill>
                <a:latin typeface="Calibri"/>
              </a:defRPr>
            </a:pPr>
            <a:r>
              <a:t>Hospitals must post MRFs</a:t>
            </a:r>
          </a:p>
        </p:txBody>
      </p:sp>
      <p:sp>
        <p:nvSpPr>
          <p:cNvPr id="39" name="Oval 38"/>
          <p:cNvSpPr/>
          <p:nvPr/>
        </p:nvSpPr>
        <p:spPr>
          <a:xfrm>
            <a:off x="3840480" y="5431536"/>
            <a:ext cx="128016" cy="128016"/>
          </a:xfrm>
          <a:prstGeom prst="ellipse">
            <a:avLst/>
          </a:prstGeom>
          <a:solidFill>
            <a:srgbClr val="2F4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91840" y="5623560"/>
            <a:ext cx="1280160" cy="182880"/>
          </a:xfrm>
          <a:prstGeom prst="rect">
            <a:avLst/>
          </a:prstGeom>
          <a:noFill/>
        </p:spPr>
        <p:txBody>
          <a:bodyPr wrap="square">
            <a:spAutoFit/>
          </a:bodyPr>
          <a:lstStyle/>
          <a:p>
            <a:pPr algn="ctr">
              <a:defRPr sz="900" b="0" i="0">
                <a:solidFill>
                  <a:srgbClr val="64748B"/>
                </a:solidFill>
                <a:latin typeface="Calibri"/>
              </a:defRPr>
            </a:pPr>
            <a:r>
              <a:t>Jul 2022</a:t>
            </a:r>
          </a:p>
        </p:txBody>
      </p:sp>
      <p:sp>
        <p:nvSpPr>
          <p:cNvPr id="41" name="TextBox 40"/>
          <p:cNvSpPr txBox="1"/>
          <p:nvPr/>
        </p:nvSpPr>
        <p:spPr>
          <a:xfrm>
            <a:off x="3291840" y="5779008"/>
            <a:ext cx="1280160" cy="182880"/>
          </a:xfrm>
          <a:prstGeom prst="rect">
            <a:avLst/>
          </a:prstGeom>
          <a:noFill/>
        </p:spPr>
        <p:txBody>
          <a:bodyPr wrap="square">
            <a:spAutoFit/>
          </a:bodyPr>
          <a:lstStyle/>
          <a:p>
            <a:pPr algn="ctr">
              <a:defRPr sz="1000" b="1" i="0">
                <a:solidFill>
                  <a:srgbClr val="2F4C8C"/>
                </a:solidFill>
                <a:latin typeface="Calibri"/>
              </a:defRPr>
            </a:pPr>
            <a:r>
              <a:t>TiC Rule</a:t>
            </a:r>
          </a:p>
        </p:txBody>
      </p:sp>
      <p:sp>
        <p:nvSpPr>
          <p:cNvPr id="42" name="TextBox 41"/>
          <p:cNvSpPr txBox="1"/>
          <p:nvPr/>
        </p:nvSpPr>
        <p:spPr>
          <a:xfrm>
            <a:off x="3291840" y="5943600"/>
            <a:ext cx="1280160" cy="228600"/>
          </a:xfrm>
          <a:prstGeom prst="rect">
            <a:avLst/>
          </a:prstGeom>
          <a:noFill/>
        </p:spPr>
        <p:txBody>
          <a:bodyPr wrap="square">
            <a:spAutoFit/>
          </a:bodyPr>
          <a:lstStyle/>
          <a:p>
            <a:pPr algn="ctr">
              <a:defRPr sz="900" b="0" i="0">
                <a:solidFill>
                  <a:srgbClr val="64748B"/>
                </a:solidFill>
                <a:latin typeface="Calibri"/>
              </a:defRPr>
            </a:pPr>
            <a:r>
              <a:t>Insurers must post rates</a:t>
            </a:r>
          </a:p>
        </p:txBody>
      </p:sp>
      <p:sp>
        <p:nvSpPr>
          <p:cNvPr id="43" name="Oval 42"/>
          <p:cNvSpPr/>
          <p:nvPr/>
        </p:nvSpPr>
        <p:spPr>
          <a:xfrm>
            <a:off x="5760720" y="5431536"/>
            <a:ext cx="128016" cy="128016"/>
          </a:xfrm>
          <a:prstGeom prst="ellipse">
            <a:avLst/>
          </a:prstGeom>
          <a:solidFill>
            <a:srgbClr val="2F4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212080" y="5623560"/>
            <a:ext cx="1280160" cy="182880"/>
          </a:xfrm>
          <a:prstGeom prst="rect">
            <a:avLst/>
          </a:prstGeom>
          <a:noFill/>
        </p:spPr>
        <p:txBody>
          <a:bodyPr wrap="square">
            <a:spAutoFit/>
          </a:bodyPr>
          <a:lstStyle/>
          <a:p>
            <a:pPr algn="ctr">
              <a:defRPr sz="900" b="0" i="0">
                <a:solidFill>
                  <a:srgbClr val="64748B"/>
                </a:solidFill>
                <a:latin typeface="Calibri"/>
              </a:defRPr>
            </a:pPr>
            <a:r>
              <a:t>Jan 2024</a:t>
            </a:r>
          </a:p>
        </p:txBody>
      </p:sp>
      <p:sp>
        <p:nvSpPr>
          <p:cNvPr id="45" name="TextBox 44"/>
          <p:cNvSpPr txBox="1"/>
          <p:nvPr/>
        </p:nvSpPr>
        <p:spPr>
          <a:xfrm>
            <a:off x="5212080" y="5779008"/>
            <a:ext cx="1280160" cy="182880"/>
          </a:xfrm>
          <a:prstGeom prst="rect">
            <a:avLst/>
          </a:prstGeom>
          <a:noFill/>
        </p:spPr>
        <p:txBody>
          <a:bodyPr wrap="square">
            <a:spAutoFit/>
          </a:bodyPr>
          <a:lstStyle/>
          <a:p>
            <a:pPr algn="ctr">
              <a:defRPr sz="1000" b="1" i="0">
                <a:solidFill>
                  <a:srgbClr val="2F4C8C"/>
                </a:solidFill>
                <a:latin typeface="Calibri"/>
              </a:defRPr>
            </a:pPr>
            <a:r>
              <a:t>Estimator Mandate</a:t>
            </a:r>
          </a:p>
        </p:txBody>
      </p:sp>
      <p:sp>
        <p:nvSpPr>
          <p:cNvPr id="46" name="TextBox 45"/>
          <p:cNvSpPr txBox="1"/>
          <p:nvPr/>
        </p:nvSpPr>
        <p:spPr>
          <a:xfrm>
            <a:off x="5212080" y="5943600"/>
            <a:ext cx="1280160" cy="228600"/>
          </a:xfrm>
          <a:prstGeom prst="rect">
            <a:avLst/>
          </a:prstGeom>
          <a:noFill/>
        </p:spPr>
        <p:txBody>
          <a:bodyPr wrap="square">
            <a:spAutoFit/>
          </a:bodyPr>
          <a:lstStyle/>
          <a:p>
            <a:pPr algn="ctr">
              <a:defRPr sz="900" b="0" i="0">
                <a:solidFill>
                  <a:srgbClr val="64748B"/>
                </a:solidFill>
                <a:latin typeface="Calibri"/>
              </a:defRPr>
            </a:pPr>
            <a:r>
              <a:t>Every insurer must offer</a:t>
            </a:r>
          </a:p>
        </p:txBody>
      </p:sp>
      <p:sp>
        <p:nvSpPr>
          <p:cNvPr id="47" name="Oval 46"/>
          <p:cNvSpPr/>
          <p:nvPr/>
        </p:nvSpPr>
        <p:spPr>
          <a:xfrm>
            <a:off x="7680960" y="5431536"/>
            <a:ext cx="128016" cy="128016"/>
          </a:xfrm>
          <a:prstGeom prst="ellipse">
            <a:avLst/>
          </a:prstGeom>
          <a:solidFill>
            <a:srgbClr val="2F4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132320" y="5623560"/>
            <a:ext cx="1280160" cy="182880"/>
          </a:xfrm>
          <a:prstGeom prst="rect">
            <a:avLst/>
          </a:prstGeom>
          <a:noFill/>
        </p:spPr>
        <p:txBody>
          <a:bodyPr wrap="square">
            <a:spAutoFit/>
          </a:bodyPr>
          <a:lstStyle/>
          <a:p>
            <a:pPr algn="ctr">
              <a:defRPr sz="900" b="0" i="0">
                <a:solidFill>
                  <a:srgbClr val="64748B"/>
                </a:solidFill>
                <a:latin typeface="Calibri"/>
              </a:defRPr>
            </a:pPr>
            <a:r>
              <a:t>Feb 2025</a:t>
            </a:r>
          </a:p>
        </p:txBody>
      </p:sp>
      <p:sp>
        <p:nvSpPr>
          <p:cNvPr id="49" name="TextBox 48"/>
          <p:cNvSpPr txBox="1"/>
          <p:nvPr/>
        </p:nvSpPr>
        <p:spPr>
          <a:xfrm>
            <a:off x="7132320" y="5779008"/>
            <a:ext cx="1280160" cy="182880"/>
          </a:xfrm>
          <a:prstGeom prst="rect">
            <a:avLst/>
          </a:prstGeom>
          <a:noFill/>
        </p:spPr>
        <p:txBody>
          <a:bodyPr wrap="square">
            <a:spAutoFit/>
          </a:bodyPr>
          <a:lstStyle/>
          <a:p>
            <a:pPr algn="ctr">
              <a:defRPr sz="1000" b="1" i="0">
                <a:solidFill>
                  <a:srgbClr val="2F4C8C"/>
                </a:solidFill>
                <a:latin typeface="Calibri"/>
              </a:defRPr>
            </a:pPr>
            <a:r>
              <a:t>Trump EO</a:t>
            </a:r>
          </a:p>
        </p:txBody>
      </p:sp>
      <p:sp>
        <p:nvSpPr>
          <p:cNvPr id="50" name="TextBox 49"/>
          <p:cNvSpPr txBox="1"/>
          <p:nvPr/>
        </p:nvSpPr>
        <p:spPr>
          <a:xfrm>
            <a:off x="7132320" y="5943600"/>
            <a:ext cx="1280160" cy="228600"/>
          </a:xfrm>
          <a:prstGeom prst="rect">
            <a:avLst/>
          </a:prstGeom>
          <a:noFill/>
        </p:spPr>
        <p:txBody>
          <a:bodyPr wrap="square">
            <a:spAutoFit/>
          </a:bodyPr>
          <a:lstStyle/>
          <a:p>
            <a:pPr algn="ctr">
              <a:defRPr sz="900" b="0" i="0">
                <a:solidFill>
                  <a:srgbClr val="64748B"/>
                </a:solidFill>
                <a:latin typeface="Calibri"/>
              </a:defRPr>
            </a:pPr>
            <a:r>
              <a:t>"Actual prices, not est."</a:t>
            </a:r>
          </a:p>
        </p:txBody>
      </p:sp>
      <p:sp>
        <p:nvSpPr>
          <p:cNvPr id="51" name="Oval 50"/>
          <p:cNvSpPr/>
          <p:nvPr/>
        </p:nvSpPr>
        <p:spPr>
          <a:xfrm>
            <a:off x="9601200" y="5431536"/>
            <a:ext cx="128016" cy="128016"/>
          </a:xfrm>
          <a:prstGeom prst="ellipse">
            <a:avLst/>
          </a:prstGeom>
          <a:solidFill>
            <a:srgbClr val="2F4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052560" y="5623560"/>
            <a:ext cx="1280160" cy="182880"/>
          </a:xfrm>
          <a:prstGeom prst="rect">
            <a:avLst/>
          </a:prstGeom>
          <a:noFill/>
        </p:spPr>
        <p:txBody>
          <a:bodyPr wrap="square">
            <a:spAutoFit/>
          </a:bodyPr>
          <a:lstStyle/>
          <a:p>
            <a:pPr algn="ctr">
              <a:defRPr sz="900" b="0" i="0">
                <a:solidFill>
                  <a:srgbClr val="64748B"/>
                </a:solidFill>
                <a:latin typeface="Calibri"/>
              </a:defRPr>
            </a:pPr>
            <a:r>
              <a:t>Apr 2026</a:t>
            </a:r>
          </a:p>
        </p:txBody>
      </p:sp>
      <p:sp>
        <p:nvSpPr>
          <p:cNvPr id="53" name="TextBox 52"/>
          <p:cNvSpPr txBox="1"/>
          <p:nvPr/>
        </p:nvSpPr>
        <p:spPr>
          <a:xfrm>
            <a:off x="9052560" y="5779008"/>
            <a:ext cx="1280160" cy="182880"/>
          </a:xfrm>
          <a:prstGeom prst="rect">
            <a:avLst/>
          </a:prstGeom>
          <a:noFill/>
        </p:spPr>
        <p:txBody>
          <a:bodyPr wrap="square">
            <a:spAutoFit/>
          </a:bodyPr>
          <a:lstStyle/>
          <a:p>
            <a:pPr algn="ctr">
              <a:defRPr sz="1000" b="1" i="0">
                <a:solidFill>
                  <a:srgbClr val="2F4C8C"/>
                </a:solidFill>
                <a:latin typeface="Calibri"/>
              </a:defRPr>
            </a:pPr>
            <a:r>
              <a:t>MRF v2.0</a:t>
            </a:r>
          </a:p>
        </p:txBody>
      </p:sp>
      <p:sp>
        <p:nvSpPr>
          <p:cNvPr id="54" name="TextBox 53"/>
          <p:cNvSpPr txBox="1"/>
          <p:nvPr/>
        </p:nvSpPr>
        <p:spPr>
          <a:xfrm>
            <a:off x="9052560" y="5943600"/>
            <a:ext cx="1280160" cy="228600"/>
          </a:xfrm>
          <a:prstGeom prst="rect">
            <a:avLst/>
          </a:prstGeom>
          <a:noFill/>
        </p:spPr>
        <p:txBody>
          <a:bodyPr wrap="square">
            <a:spAutoFit/>
          </a:bodyPr>
          <a:lstStyle/>
          <a:p>
            <a:pPr algn="ctr">
              <a:defRPr sz="900" b="0" i="0">
                <a:solidFill>
                  <a:srgbClr val="64748B"/>
                </a:solidFill>
                <a:latin typeface="Calibri"/>
              </a:defRPr>
            </a:pPr>
            <a:r>
              <a:t>Dollar-and-cents rates</a:t>
            </a:r>
          </a:p>
        </p:txBody>
      </p:sp>
      <p:sp>
        <p:nvSpPr>
          <p:cNvPr id="55" name="Oval 54"/>
          <p:cNvSpPr/>
          <p:nvPr/>
        </p:nvSpPr>
        <p:spPr>
          <a:xfrm>
            <a:off x="11521440" y="5431536"/>
            <a:ext cx="128016" cy="128016"/>
          </a:xfrm>
          <a:prstGeom prst="ellipse">
            <a:avLst/>
          </a:prstGeom>
          <a:solidFill>
            <a:srgbClr val="A84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972800" y="5623560"/>
            <a:ext cx="1280160" cy="182880"/>
          </a:xfrm>
          <a:prstGeom prst="rect">
            <a:avLst/>
          </a:prstGeom>
          <a:noFill/>
        </p:spPr>
        <p:txBody>
          <a:bodyPr wrap="square">
            <a:spAutoFit/>
          </a:bodyPr>
          <a:lstStyle/>
          <a:p>
            <a:pPr algn="ctr">
              <a:defRPr sz="900" b="0" i="0">
                <a:solidFill>
                  <a:srgbClr val="64748B"/>
                </a:solidFill>
                <a:latin typeface="Calibri"/>
              </a:defRPr>
            </a:pPr>
            <a:r>
              <a:t>Apr 2026</a:t>
            </a:r>
          </a:p>
        </p:txBody>
      </p:sp>
      <p:sp>
        <p:nvSpPr>
          <p:cNvPr id="57" name="TextBox 56"/>
          <p:cNvSpPr txBox="1"/>
          <p:nvPr/>
        </p:nvSpPr>
        <p:spPr>
          <a:xfrm>
            <a:off x="10972800" y="5779008"/>
            <a:ext cx="1280160" cy="182880"/>
          </a:xfrm>
          <a:prstGeom prst="rect">
            <a:avLst/>
          </a:prstGeom>
          <a:noFill/>
        </p:spPr>
        <p:txBody>
          <a:bodyPr wrap="square">
            <a:spAutoFit/>
          </a:bodyPr>
          <a:lstStyle/>
          <a:p>
            <a:pPr algn="ctr">
              <a:defRPr sz="1000" b="1" i="0">
                <a:solidFill>
                  <a:srgbClr val="A84C6A"/>
                </a:solidFill>
                <a:latin typeface="Calibri"/>
              </a:defRPr>
            </a:pPr>
            <a:r>
              <a:t>CareCost</a:t>
            </a:r>
          </a:p>
        </p:txBody>
      </p:sp>
      <p:sp>
        <p:nvSpPr>
          <p:cNvPr id="58" name="TextBox 57"/>
          <p:cNvSpPr txBox="1"/>
          <p:nvPr/>
        </p:nvSpPr>
        <p:spPr>
          <a:xfrm>
            <a:off x="10972800" y="5943600"/>
            <a:ext cx="1280160" cy="228600"/>
          </a:xfrm>
          <a:prstGeom prst="rect">
            <a:avLst/>
          </a:prstGeom>
          <a:noFill/>
        </p:spPr>
        <p:txBody>
          <a:bodyPr wrap="square">
            <a:spAutoFit/>
          </a:bodyPr>
          <a:lstStyle/>
          <a:p>
            <a:pPr algn="ctr">
              <a:defRPr sz="900" b="0" i="0">
                <a:solidFill>
                  <a:srgbClr val="64748B"/>
                </a:solidFill>
                <a:latin typeface="Calibri"/>
              </a:defRPr>
            </a:pPr>
            <a:r>
              <a:t>Enters at inflection point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AF8"/>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A84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3657600" cy="274320"/>
          </a:xfrm>
          <a:prstGeom prst="rect">
            <a:avLst/>
          </a:prstGeom>
          <a:noFill/>
        </p:spPr>
        <p:txBody>
          <a:bodyPr wrap="square">
            <a:spAutoFit/>
          </a:bodyPr>
          <a:lstStyle/>
          <a:p>
            <a:pPr algn="l">
              <a:defRPr sz="1100" b="1" i="0">
                <a:solidFill>
                  <a:srgbClr val="A84C6A"/>
                </a:solidFill>
                <a:latin typeface="Calibri"/>
              </a:defRPr>
            </a:pPr>
            <a:r>
              <a:t>MARKET + SOLUTION</a:t>
            </a:r>
          </a:p>
        </p:txBody>
      </p:sp>
      <p:sp>
        <p:nvSpPr>
          <p:cNvPr id="4" name="TextBox 3"/>
          <p:cNvSpPr txBox="1"/>
          <p:nvPr/>
        </p:nvSpPr>
        <p:spPr>
          <a:xfrm>
            <a:off x="822960" y="914400"/>
            <a:ext cx="10058400" cy="457200"/>
          </a:xfrm>
          <a:prstGeom prst="rect">
            <a:avLst/>
          </a:prstGeom>
          <a:noFill/>
        </p:spPr>
        <p:txBody>
          <a:bodyPr wrap="square">
            <a:spAutoFit/>
          </a:bodyPr>
          <a:lstStyle/>
          <a:p>
            <a:pPr algn="l">
              <a:defRPr sz="3200" b="1" i="0">
                <a:solidFill>
                  <a:srgbClr val="1A1F36"/>
                </a:solidFill>
                <a:latin typeface="Calibri"/>
              </a:defRPr>
            </a:pPr>
            <a:r>
              <a:t>The biggest companies ever built</a:t>
            </a:r>
          </a:p>
        </p:txBody>
      </p:sp>
      <p:sp>
        <p:nvSpPr>
          <p:cNvPr id="5" name="TextBox 4"/>
          <p:cNvSpPr txBox="1"/>
          <p:nvPr/>
        </p:nvSpPr>
        <p:spPr>
          <a:xfrm>
            <a:off x="822960" y="1325880"/>
            <a:ext cx="10058400" cy="457200"/>
          </a:xfrm>
          <a:prstGeom prst="rect">
            <a:avLst/>
          </a:prstGeom>
          <a:noFill/>
        </p:spPr>
        <p:txBody>
          <a:bodyPr wrap="square">
            <a:spAutoFit/>
          </a:bodyPr>
          <a:lstStyle/>
          <a:p>
            <a:pPr algn="l">
              <a:defRPr sz="3200" b="1" i="0">
                <a:solidFill>
                  <a:srgbClr val="1A1F36"/>
                </a:solidFill>
                <a:latin typeface="Calibri"/>
              </a:defRPr>
            </a:pPr>
            <a:r>
              <a:t>are search companies.</a:t>
            </a:r>
          </a:p>
        </p:txBody>
      </p:sp>
      <p:sp>
        <p:nvSpPr>
          <p:cNvPr id="6" name="TextBox 5"/>
          <p:cNvSpPr txBox="1"/>
          <p:nvPr/>
        </p:nvSpPr>
        <p:spPr>
          <a:xfrm>
            <a:off x="822960" y="1783080"/>
            <a:ext cx="10058400" cy="365760"/>
          </a:xfrm>
          <a:prstGeom prst="rect">
            <a:avLst/>
          </a:prstGeom>
          <a:noFill/>
        </p:spPr>
        <p:txBody>
          <a:bodyPr wrap="square">
            <a:spAutoFit/>
          </a:bodyPr>
          <a:lstStyle/>
          <a:p>
            <a:pPr algn="l">
              <a:defRPr sz="1600" b="0" i="0">
                <a:solidFill>
                  <a:srgbClr val="475569"/>
                </a:solidFill>
                <a:latin typeface="Calibri"/>
              </a:defRPr>
            </a:pPr>
            <a:r>
              <a:t>Healthcare has 100+ TB of legally mandated pricing data sitting in the open. Nobody built the consumer search layer on top. Until now.</a:t>
            </a:r>
          </a:p>
        </p:txBody>
      </p:sp>
      <p:sp>
        <p:nvSpPr>
          <p:cNvPr id="7" name="Rectangle 6"/>
          <p:cNvSpPr/>
          <p:nvPr/>
        </p:nvSpPr>
        <p:spPr>
          <a:xfrm>
            <a:off x="822960" y="2423160"/>
            <a:ext cx="10515600" cy="594360"/>
          </a:xfrm>
          <a:prstGeom prst="rect">
            <a:avLst/>
          </a:prstGeom>
          <a:solidFill>
            <a:srgbClr val="FFFFFF"/>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532888"/>
            <a:ext cx="1828800" cy="365760"/>
          </a:xfrm>
          <a:prstGeom prst="rect">
            <a:avLst/>
          </a:prstGeom>
          <a:noFill/>
        </p:spPr>
        <p:txBody>
          <a:bodyPr wrap="square">
            <a:spAutoFit/>
          </a:bodyPr>
          <a:lstStyle/>
          <a:p>
            <a:pPr algn="l">
              <a:defRPr sz="2200" b="1" i="0">
                <a:solidFill>
                  <a:srgbClr val="1A1F36"/>
                </a:solidFill>
                <a:latin typeface="Calibri"/>
              </a:defRPr>
            </a:pPr>
            <a:r>
              <a:t>Google</a:t>
            </a:r>
          </a:p>
        </p:txBody>
      </p:sp>
      <p:sp>
        <p:nvSpPr>
          <p:cNvPr id="9" name="TextBox 8"/>
          <p:cNvSpPr txBox="1"/>
          <p:nvPr/>
        </p:nvSpPr>
        <p:spPr>
          <a:xfrm>
            <a:off x="3200400" y="2560320"/>
            <a:ext cx="3657600" cy="320040"/>
          </a:xfrm>
          <a:prstGeom prst="rect">
            <a:avLst/>
          </a:prstGeom>
          <a:noFill/>
        </p:spPr>
        <p:txBody>
          <a:bodyPr wrap="square">
            <a:spAutoFit/>
          </a:bodyPr>
          <a:lstStyle/>
          <a:p>
            <a:pPr algn="l">
              <a:defRPr sz="1500" b="0" i="0">
                <a:solidFill>
                  <a:srgbClr val="475569"/>
                </a:solidFill>
                <a:latin typeface="Calibri"/>
              </a:defRPr>
            </a:pPr>
            <a:r>
              <a:t>organized the web</a:t>
            </a:r>
          </a:p>
        </p:txBody>
      </p:sp>
      <p:sp>
        <p:nvSpPr>
          <p:cNvPr id="10" name="TextBox 9"/>
          <p:cNvSpPr txBox="1"/>
          <p:nvPr/>
        </p:nvSpPr>
        <p:spPr>
          <a:xfrm>
            <a:off x="7772400" y="2560320"/>
            <a:ext cx="3200400" cy="320040"/>
          </a:xfrm>
          <a:prstGeom prst="rect">
            <a:avLst/>
          </a:prstGeom>
          <a:noFill/>
        </p:spPr>
        <p:txBody>
          <a:bodyPr wrap="square">
            <a:spAutoFit/>
          </a:bodyPr>
          <a:lstStyle/>
          <a:p>
            <a:pPr algn="r">
              <a:defRPr sz="1500" b="0" i="0">
                <a:solidFill>
                  <a:srgbClr val="1A1F36"/>
                </a:solidFill>
                <a:latin typeface="Calibri"/>
              </a:defRPr>
            </a:pPr>
            <a:r>
              <a:t>$2T company</a:t>
            </a:r>
          </a:p>
        </p:txBody>
      </p:sp>
      <p:sp>
        <p:nvSpPr>
          <p:cNvPr id="11" name="Rectangle 10"/>
          <p:cNvSpPr/>
          <p:nvPr/>
        </p:nvSpPr>
        <p:spPr>
          <a:xfrm>
            <a:off x="822960" y="3108960"/>
            <a:ext cx="10515600" cy="594360"/>
          </a:xfrm>
          <a:prstGeom prst="rect">
            <a:avLst/>
          </a:prstGeom>
          <a:solidFill>
            <a:srgbClr val="FFFFFF"/>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3218688"/>
            <a:ext cx="1828800" cy="365760"/>
          </a:xfrm>
          <a:prstGeom prst="rect">
            <a:avLst/>
          </a:prstGeom>
          <a:noFill/>
        </p:spPr>
        <p:txBody>
          <a:bodyPr wrap="square">
            <a:spAutoFit/>
          </a:bodyPr>
          <a:lstStyle/>
          <a:p>
            <a:pPr algn="l">
              <a:defRPr sz="2200" b="1" i="0">
                <a:solidFill>
                  <a:srgbClr val="1A1F36"/>
                </a:solidFill>
                <a:latin typeface="Calibri"/>
              </a:defRPr>
            </a:pPr>
            <a:r>
              <a:t>Amazon</a:t>
            </a:r>
          </a:p>
        </p:txBody>
      </p:sp>
      <p:sp>
        <p:nvSpPr>
          <p:cNvPr id="13" name="TextBox 12"/>
          <p:cNvSpPr txBox="1"/>
          <p:nvPr/>
        </p:nvSpPr>
        <p:spPr>
          <a:xfrm>
            <a:off x="3200400" y="3246120"/>
            <a:ext cx="3657600" cy="320040"/>
          </a:xfrm>
          <a:prstGeom prst="rect">
            <a:avLst/>
          </a:prstGeom>
          <a:noFill/>
        </p:spPr>
        <p:txBody>
          <a:bodyPr wrap="square">
            <a:spAutoFit/>
          </a:bodyPr>
          <a:lstStyle/>
          <a:p>
            <a:pPr algn="l">
              <a:defRPr sz="1500" b="0" i="0">
                <a:solidFill>
                  <a:srgbClr val="475569"/>
                </a:solidFill>
                <a:latin typeface="Calibri"/>
              </a:defRPr>
            </a:pPr>
            <a:r>
              <a:t>organized products</a:t>
            </a:r>
          </a:p>
        </p:txBody>
      </p:sp>
      <p:sp>
        <p:nvSpPr>
          <p:cNvPr id="14" name="TextBox 13"/>
          <p:cNvSpPr txBox="1"/>
          <p:nvPr/>
        </p:nvSpPr>
        <p:spPr>
          <a:xfrm>
            <a:off x="7772400" y="3246120"/>
            <a:ext cx="3200400" cy="320040"/>
          </a:xfrm>
          <a:prstGeom prst="rect">
            <a:avLst/>
          </a:prstGeom>
          <a:noFill/>
        </p:spPr>
        <p:txBody>
          <a:bodyPr wrap="square">
            <a:spAutoFit/>
          </a:bodyPr>
          <a:lstStyle/>
          <a:p>
            <a:pPr algn="r">
              <a:defRPr sz="1500" b="0" i="0">
                <a:solidFill>
                  <a:srgbClr val="1A1F36"/>
                </a:solidFill>
                <a:latin typeface="Calibri"/>
              </a:defRPr>
            </a:pPr>
            <a:r>
              <a:t>$2T company</a:t>
            </a:r>
          </a:p>
        </p:txBody>
      </p:sp>
      <p:sp>
        <p:nvSpPr>
          <p:cNvPr id="15" name="Rectangle 14"/>
          <p:cNvSpPr/>
          <p:nvPr/>
        </p:nvSpPr>
        <p:spPr>
          <a:xfrm>
            <a:off x="822960" y="3794760"/>
            <a:ext cx="10515600" cy="594360"/>
          </a:xfrm>
          <a:prstGeom prst="rect">
            <a:avLst/>
          </a:prstGeom>
          <a:solidFill>
            <a:srgbClr val="FFFFFF"/>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3904488"/>
            <a:ext cx="1828800" cy="365760"/>
          </a:xfrm>
          <a:prstGeom prst="rect">
            <a:avLst/>
          </a:prstGeom>
          <a:noFill/>
        </p:spPr>
        <p:txBody>
          <a:bodyPr wrap="square">
            <a:spAutoFit/>
          </a:bodyPr>
          <a:lstStyle/>
          <a:p>
            <a:pPr algn="l">
              <a:defRPr sz="2200" b="1" i="0">
                <a:solidFill>
                  <a:srgbClr val="1A1F36"/>
                </a:solidFill>
                <a:latin typeface="Calibri"/>
              </a:defRPr>
            </a:pPr>
            <a:r>
              <a:t>GoodRx</a:t>
            </a:r>
          </a:p>
        </p:txBody>
      </p:sp>
      <p:sp>
        <p:nvSpPr>
          <p:cNvPr id="17" name="TextBox 16"/>
          <p:cNvSpPr txBox="1"/>
          <p:nvPr/>
        </p:nvSpPr>
        <p:spPr>
          <a:xfrm>
            <a:off x="3200400" y="3931920"/>
            <a:ext cx="3657600" cy="320040"/>
          </a:xfrm>
          <a:prstGeom prst="rect">
            <a:avLst/>
          </a:prstGeom>
          <a:noFill/>
        </p:spPr>
        <p:txBody>
          <a:bodyPr wrap="square">
            <a:spAutoFit/>
          </a:bodyPr>
          <a:lstStyle/>
          <a:p>
            <a:pPr algn="l">
              <a:defRPr sz="1500" b="0" i="0">
                <a:solidFill>
                  <a:srgbClr val="475569"/>
                </a:solidFill>
                <a:latin typeface="Calibri"/>
              </a:defRPr>
            </a:pPr>
            <a:r>
              <a:t>organized prescriptions</a:t>
            </a:r>
          </a:p>
        </p:txBody>
      </p:sp>
      <p:sp>
        <p:nvSpPr>
          <p:cNvPr id="18" name="TextBox 17"/>
          <p:cNvSpPr txBox="1"/>
          <p:nvPr/>
        </p:nvSpPr>
        <p:spPr>
          <a:xfrm>
            <a:off x="7772400" y="3931920"/>
            <a:ext cx="3200400" cy="320040"/>
          </a:xfrm>
          <a:prstGeom prst="rect">
            <a:avLst/>
          </a:prstGeom>
          <a:noFill/>
        </p:spPr>
        <p:txBody>
          <a:bodyPr wrap="square">
            <a:spAutoFit/>
          </a:bodyPr>
          <a:lstStyle/>
          <a:p>
            <a:pPr algn="r">
              <a:defRPr sz="1500" b="0" i="0">
                <a:solidFill>
                  <a:srgbClr val="1A1F36"/>
                </a:solidFill>
                <a:latin typeface="Calibri"/>
              </a:defRPr>
            </a:pPr>
            <a:r>
              <a:t>$797M/yr revenue, free gov data</a:t>
            </a:r>
          </a:p>
        </p:txBody>
      </p:sp>
      <p:sp>
        <p:nvSpPr>
          <p:cNvPr id="19" name="Rectangle 18"/>
          <p:cNvSpPr/>
          <p:nvPr/>
        </p:nvSpPr>
        <p:spPr>
          <a:xfrm>
            <a:off x="822960" y="4480560"/>
            <a:ext cx="10515600" cy="594360"/>
          </a:xfrm>
          <a:prstGeom prst="rect">
            <a:avLst/>
          </a:prstGeom>
          <a:solidFill>
            <a:srgbClr val="FDF2F4"/>
          </a:solidFill>
          <a:ln w="25400">
            <a:solidFill>
              <a:srgbClr val="A84C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97280" y="4590288"/>
            <a:ext cx="1828800" cy="365760"/>
          </a:xfrm>
          <a:prstGeom prst="rect">
            <a:avLst/>
          </a:prstGeom>
          <a:noFill/>
        </p:spPr>
        <p:txBody>
          <a:bodyPr wrap="square">
            <a:spAutoFit/>
          </a:bodyPr>
          <a:lstStyle/>
          <a:p>
            <a:pPr algn="l">
              <a:defRPr sz="2200" b="1" i="0">
                <a:solidFill>
                  <a:srgbClr val="A84C6A"/>
                </a:solidFill>
                <a:latin typeface="Calibri"/>
              </a:defRPr>
            </a:pPr>
            <a:r>
              <a:t>CareCost</a:t>
            </a:r>
          </a:p>
        </p:txBody>
      </p:sp>
      <p:sp>
        <p:nvSpPr>
          <p:cNvPr id="21" name="TextBox 20"/>
          <p:cNvSpPr txBox="1"/>
          <p:nvPr/>
        </p:nvSpPr>
        <p:spPr>
          <a:xfrm>
            <a:off x="3200400" y="4617720"/>
            <a:ext cx="3657600" cy="320040"/>
          </a:xfrm>
          <a:prstGeom prst="rect">
            <a:avLst/>
          </a:prstGeom>
          <a:noFill/>
        </p:spPr>
        <p:txBody>
          <a:bodyPr wrap="square">
            <a:spAutoFit/>
          </a:bodyPr>
          <a:lstStyle/>
          <a:p>
            <a:pPr algn="l">
              <a:defRPr sz="1500" b="0" i="0">
                <a:solidFill>
                  <a:srgbClr val="475569"/>
                </a:solidFill>
                <a:latin typeface="Calibri"/>
              </a:defRPr>
            </a:pPr>
            <a:r>
              <a:t>organizes healthcare costs</a:t>
            </a:r>
          </a:p>
        </p:txBody>
      </p:sp>
      <p:sp>
        <p:nvSpPr>
          <p:cNvPr id="22" name="TextBox 21"/>
          <p:cNvSpPr txBox="1"/>
          <p:nvPr/>
        </p:nvSpPr>
        <p:spPr>
          <a:xfrm>
            <a:off x="7772400" y="4617720"/>
            <a:ext cx="3200400" cy="320040"/>
          </a:xfrm>
          <a:prstGeom prst="rect">
            <a:avLst/>
          </a:prstGeom>
          <a:noFill/>
        </p:spPr>
        <p:txBody>
          <a:bodyPr wrap="square">
            <a:spAutoFit/>
          </a:bodyPr>
          <a:lstStyle/>
          <a:p>
            <a:pPr algn="r">
              <a:defRPr sz="1500" b="1" i="0">
                <a:solidFill>
                  <a:srgbClr val="1A1F36"/>
                </a:solidFill>
                <a:latin typeface="Calibri"/>
              </a:defRPr>
            </a:pPr>
            <a:r>
              <a:t>healthcare's search engine</a:t>
            </a:r>
          </a:p>
        </p:txBody>
      </p:sp>
      <p:sp>
        <p:nvSpPr>
          <p:cNvPr id="23" name="Rectangle 22"/>
          <p:cNvSpPr/>
          <p:nvPr/>
        </p:nvSpPr>
        <p:spPr>
          <a:xfrm>
            <a:off x="822960" y="5212080"/>
            <a:ext cx="5029200" cy="1371600"/>
          </a:xfrm>
          <a:prstGeom prst="rect">
            <a:avLst/>
          </a:prstGeom>
          <a:solidFill>
            <a:srgbClr val="FFFFFF"/>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280" y="5349240"/>
            <a:ext cx="4480560" cy="274320"/>
          </a:xfrm>
          <a:prstGeom prst="rect">
            <a:avLst/>
          </a:prstGeom>
          <a:noFill/>
        </p:spPr>
        <p:txBody>
          <a:bodyPr wrap="square">
            <a:spAutoFit/>
          </a:bodyPr>
          <a:lstStyle/>
          <a:p>
            <a:pPr algn="l">
              <a:defRPr sz="1300" b="1" i="0">
                <a:solidFill>
                  <a:srgbClr val="A84C6A"/>
                </a:solidFill>
                <a:latin typeface="Calibri"/>
              </a:defRPr>
            </a:pPr>
            <a:r>
              <a:t>THE GAP</a:t>
            </a:r>
          </a:p>
        </p:txBody>
      </p:sp>
      <p:sp>
        <p:nvSpPr>
          <p:cNvPr id="25" name="TextBox 24"/>
          <p:cNvSpPr txBox="1"/>
          <p:nvPr/>
        </p:nvSpPr>
        <p:spPr>
          <a:xfrm>
            <a:off x="1097280" y="5623560"/>
            <a:ext cx="4480560" cy="228600"/>
          </a:xfrm>
          <a:prstGeom prst="rect">
            <a:avLst/>
          </a:prstGeom>
          <a:noFill/>
        </p:spPr>
        <p:txBody>
          <a:bodyPr wrap="square">
            <a:spAutoFit/>
          </a:bodyPr>
          <a:lstStyle/>
          <a:p>
            <a:pPr algn="l">
              <a:defRPr sz="1500" b="0" i="0">
                <a:solidFill>
                  <a:srgbClr val="1A1F36"/>
                </a:solidFill>
                <a:latin typeface="Calibri"/>
              </a:defRPr>
            </a:pPr>
            <a:r>
              <a:t>89% want to shop for care</a:t>
            </a:r>
          </a:p>
        </p:txBody>
      </p:sp>
      <p:sp>
        <p:nvSpPr>
          <p:cNvPr id="26" name="TextBox 25"/>
          <p:cNvSpPr txBox="1"/>
          <p:nvPr/>
        </p:nvSpPr>
        <p:spPr>
          <a:xfrm>
            <a:off x="1097280" y="5852160"/>
            <a:ext cx="4480560" cy="228600"/>
          </a:xfrm>
          <a:prstGeom prst="rect">
            <a:avLst/>
          </a:prstGeom>
          <a:noFill/>
        </p:spPr>
        <p:txBody>
          <a:bodyPr wrap="square">
            <a:spAutoFit/>
          </a:bodyPr>
          <a:lstStyle/>
          <a:p>
            <a:pPr algn="l">
              <a:defRPr sz="1500" b="0" i="0">
                <a:solidFill>
                  <a:srgbClr val="1A1F36"/>
                </a:solidFill>
                <a:latin typeface="Calibri"/>
              </a:defRPr>
            </a:pPr>
            <a:r>
              <a:t>3% actually compare costs</a:t>
            </a:r>
          </a:p>
        </p:txBody>
      </p:sp>
      <p:sp>
        <p:nvSpPr>
          <p:cNvPr id="27" name="TextBox 26"/>
          <p:cNvSpPr txBox="1"/>
          <p:nvPr/>
        </p:nvSpPr>
        <p:spPr>
          <a:xfrm>
            <a:off x="1097280" y="6172200"/>
            <a:ext cx="4480560" cy="274320"/>
          </a:xfrm>
          <a:prstGeom prst="rect">
            <a:avLst/>
          </a:prstGeom>
          <a:noFill/>
        </p:spPr>
        <p:txBody>
          <a:bodyPr wrap="square">
            <a:spAutoFit/>
          </a:bodyPr>
          <a:lstStyle/>
          <a:p>
            <a:pPr algn="l">
              <a:defRPr sz="1300" b="0" i="1">
                <a:solidFill>
                  <a:srgbClr val="475569"/>
                </a:solidFill>
                <a:latin typeface="Calibri"/>
              </a:defRPr>
            </a:pPr>
            <a:r>
              <a:t>"The gap isn't desire. It's infrastructure."</a:t>
            </a:r>
          </a:p>
        </p:txBody>
      </p:sp>
      <p:sp>
        <p:nvSpPr>
          <p:cNvPr id="28" name="Rectangle 27"/>
          <p:cNvSpPr/>
          <p:nvPr/>
        </p:nvSpPr>
        <p:spPr>
          <a:xfrm>
            <a:off x="6035040" y="5212080"/>
            <a:ext cx="5303520" cy="1371600"/>
          </a:xfrm>
          <a:prstGeom prst="rect">
            <a:avLst/>
          </a:prstGeom>
          <a:solidFill>
            <a:srgbClr val="FFFFFF"/>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09360" y="5349240"/>
            <a:ext cx="4754880" cy="274320"/>
          </a:xfrm>
          <a:prstGeom prst="rect">
            <a:avLst/>
          </a:prstGeom>
          <a:noFill/>
        </p:spPr>
        <p:txBody>
          <a:bodyPr wrap="square">
            <a:spAutoFit/>
          </a:bodyPr>
          <a:lstStyle/>
          <a:p>
            <a:pPr algn="l">
              <a:defRPr sz="1300" b="1" i="0">
                <a:solidFill>
                  <a:srgbClr val="A84C6A"/>
                </a:solidFill>
                <a:latin typeface="Calibri"/>
              </a:defRPr>
            </a:pPr>
            <a:r>
              <a:t>THE PARALLEL</a:t>
            </a:r>
          </a:p>
        </p:txBody>
      </p:sp>
      <p:sp>
        <p:nvSpPr>
          <p:cNvPr id="30" name="TextBox 29"/>
          <p:cNvSpPr txBox="1"/>
          <p:nvPr/>
        </p:nvSpPr>
        <p:spPr>
          <a:xfrm>
            <a:off x="6309360" y="5623560"/>
            <a:ext cx="4754880" cy="228600"/>
          </a:xfrm>
          <a:prstGeom prst="rect">
            <a:avLst/>
          </a:prstGeom>
          <a:noFill/>
        </p:spPr>
        <p:txBody>
          <a:bodyPr wrap="square">
            <a:spAutoFit/>
          </a:bodyPr>
          <a:lstStyle/>
          <a:p>
            <a:pPr algn="l">
              <a:defRPr sz="1400" b="0" i="0">
                <a:solidFill>
                  <a:srgbClr val="475569"/>
                </a:solidFill>
                <a:latin typeface="Calibri"/>
              </a:defRPr>
            </a:pPr>
            <a:r>
              <a:t>GoodRx built $797M/yr on free government prescription data</a:t>
            </a:r>
          </a:p>
        </p:txBody>
      </p:sp>
      <p:sp>
        <p:nvSpPr>
          <p:cNvPr id="31" name="TextBox 30"/>
          <p:cNvSpPr txBox="1"/>
          <p:nvPr/>
        </p:nvSpPr>
        <p:spPr>
          <a:xfrm>
            <a:off x="6309360" y="5852160"/>
            <a:ext cx="4754880" cy="228600"/>
          </a:xfrm>
          <a:prstGeom prst="rect">
            <a:avLst/>
          </a:prstGeom>
          <a:noFill/>
        </p:spPr>
        <p:txBody>
          <a:bodyPr wrap="square">
            <a:spAutoFit/>
          </a:bodyPr>
          <a:lstStyle/>
          <a:p>
            <a:pPr algn="l">
              <a:defRPr sz="1400" b="0" i="0">
                <a:solidFill>
                  <a:srgbClr val="475569"/>
                </a:solidFill>
                <a:latin typeface="Calibri"/>
              </a:defRPr>
            </a:pPr>
            <a:r>
              <a:t>CareCost builds on 100+ TB of government-mandated procedure pricing data</a:t>
            </a:r>
          </a:p>
        </p:txBody>
      </p:sp>
      <p:sp>
        <p:nvSpPr>
          <p:cNvPr id="32" name="TextBox 31"/>
          <p:cNvSpPr txBox="1"/>
          <p:nvPr/>
        </p:nvSpPr>
        <p:spPr>
          <a:xfrm>
            <a:off x="6309360" y="6172200"/>
            <a:ext cx="4754880" cy="274320"/>
          </a:xfrm>
          <a:prstGeom prst="rect">
            <a:avLst/>
          </a:prstGeom>
          <a:noFill/>
        </p:spPr>
        <p:txBody>
          <a:bodyPr wrap="square">
            <a:spAutoFit/>
          </a:bodyPr>
          <a:lstStyle/>
          <a:p>
            <a:pPr algn="l">
              <a:defRPr sz="1200" b="0" i="1">
                <a:solidFill>
                  <a:srgbClr val="475569"/>
                </a:solidFill>
                <a:latin typeface="Calibri"/>
              </a:defRPr>
            </a:pPr>
            <a:r>
              <a:t>Same structural profile: zero delivery risk, near-zero marginal cost, ~90% gross margins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AF8"/>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A84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3657600" cy="274320"/>
          </a:xfrm>
          <a:prstGeom prst="rect">
            <a:avLst/>
          </a:prstGeom>
          <a:noFill/>
        </p:spPr>
        <p:txBody>
          <a:bodyPr wrap="square">
            <a:spAutoFit/>
          </a:bodyPr>
          <a:lstStyle/>
          <a:p>
            <a:pPr algn="l">
              <a:defRPr sz="1100" b="1" i="0">
                <a:solidFill>
                  <a:srgbClr val="A84C6A"/>
                </a:solidFill>
                <a:latin typeface="Calibri"/>
              </a:defRPr>
            </a:pPr>
            <a:r>
              <a:t>COMPETITIVE LANDSCAPE</a:t>
            </a:r>
          </a:p>
        </p:txBody>
      </p:sp>
      <p:sp>
        <p:nvSpPr>
          <p:cNvPr id="4" name="TextBox 3"/>
          <p:cNvSpPr txBox="1"/>
          <p:nvPr/>
        </p:nvSpPr>
        <p:spPr>
          <a:xfrm>
            <a:off x="822960" y="914400"/>
            <a:ext cx="10058400" cy="548640"/>
          </a:xfrm>
          <a:prstGeom prst="rect">
            <a:avLst/>
          </a:prstGeom>
          <a:noFill/>
        </p:spPr>
        <p:txBody>
          <a:bodyPr wrap="square">
            <a:spAutoFit/>
          </a:bodyPr>
          <a:lstStyle/>
          <a:p>
            <a:pPr algn="l">
              <a:defRPr sz="3000" b="1" i="0">
                <a:solidFill>
                  <a:srgbClr val="1A1F36"/>
                </a:solidFill>
                <a:latin typeface="Calibri"/>
              </a:defRPr>
            </a:pPr>
            <a:r>
              <a:t>$3.7B in funding. Nobody in the top-left box.</a:t>
            </a:r>
          </a:p>
        </p:txBody>
      </p:sp>
      <p:sp>
        <p:nvSpPr>
          <p:cNvPr id="5" name="TextBox 4"/>
          <p:cNvSpPr txBox="1"/>
          <p:nvPr/>
        </p:nvSpPr>
        <p:spPr>
          <a:xfrm>
            <a:off x="2926080" y="1417320"/>
            <a:ext cx="6071616" cy="274320"/>
          </a:xfrm>
          <a:prstGeom prst="rect">
            <a:avLst/>
          </a:prstGeom>
          <a:noFill/>
        </p:spPr>
        <p:txBody>
          <a:bodyPr wrap="square">
            <a:spAutoFit/>
          </a:bodyPr>
          <a:lstStyle/>
          <a:p>
            <a:pPr algn="ctr">
              <a:defRPr sz="1200" b="0" i="0">
                <a:solidFill>
                  <a:srgbClr val="475569"/>
                </a:solidFill>
                <a:latin typeface="Calibri"/>
              </a:defRPr>
            </a:pPr>
            <a:r>
              <a:t>Knows what it costs</a:t>
            </a:r>
          </a:p>
        </p:txBody>
      </p:sp>
      <p:sp>
        <p:nvSpPr>
          <p:cNvPr id="6" name="TextBox 5"/>
          <p:cNvSpPr txBox="1"/>
          <p:nvPr/>
        </p:nvSpPr>
        <p:spPr>
          <a:xfrm>
            <a:off x="2926080" y="5111496"/>
            <a:ext cx="6071616" cy="274320"/>
          </a:xfrm>
          <a:prstGeom prst="rect">
            <a:avLst/>
          </a:prstGeom>
          <a:noFill/>
        </p:spPr>
        <p:txBody>
          <a:bodyPr wrap="square">
            <a:spAutoFit/>
          </a:bodyPr>
          <a:lstStyle/>
          <a:p>
            <a:pPr algn="ctr">
              <a:defRPr sz="1200" b="0" i="0">
                <a:solidFill>
                  <a:srgbClr val="475569"/>
                </a:solidFill>
                <a:latin typeface="Calibri"/>
              </a:defRPr>
            </a:pPr>
            <a:r>
              <a:t>No cost data</a:t>
            </a:r>
          </a:p>
        </p:txBody>
      </p:sp>
      <p:sp>
        <p:nvSpPr>
          <p:cNvPr id="7" name="TextBox 6"/>
          <p:cNvSpPr txBox="1"/>
          <p:nvPr/>
        </p:nvSpPr>
        <p:spPr>
          <a:xfrm>
            <a:off x="1554480" y="3246120"/>
            <a:ext cx="1188720" cy="274320"/>
          </a:xfrm>
          <a:prstGeom prst="rect">
            <a:avLst/>
          </a:prstGeom>
          <a:noFill/>
        </p:spPr>
        <p:txBody>
          <a:bodyPr wrap="square">
            <a:spAutoFit/>
          </a:bodyPr>
          <a:lstStyle/>
          <a:p>
            <a:pPr algn="r">
              <a:defRPr sz="1100" b="0" i="0">
                <a:solidFill>
                  <a:srgbClr val="475569"/>
                </a:solidFill>
                <a:latin typeface="Calibri"/>
              </a:defRPr>
            </a:pPr>
            <a:r>
              <a:t>Knows what you need</a:t>
            </a:r>
          </a:p>
        </p:txBody>
      </p:sp>
      <p:sp>
        <p:nvSpPr>
          <p:cNvPr id="8" name="TextBox 7"/>
          <p:cNvSpPr txBox="1"/>
          <p:nvPr/>
        </p:nvSpPr>
        <p:spPr>
          <a:xfrm>
            <a:off x="9180576" y="3246120"/>
            <a:ext cx="1371600" cy="274320"/>
          </a:xfrm>
          <a:prstGeom prst="rect">
            <a:avLst/>
          </a:prstGeom>
          <a:noFill/>
        </p:spPr>
        <p:txBody>
          <a:bodyPr wrap="square">
            <a:spAutoFit/>
          </a:bodyPr>
          <a:lstStyle/>
          <a:p>
            <a:pPr algn="l">
              <a:defRPr sz="1100" b="0" i="0">
                <a:solidFill>
                  <a:srgbClr val="475569"/>
                </a:solidFill>
                <a:latin typeface="Calibri"/>
              </a:defRPr>
            </a:pPr>
            <a:r>
              <a:t>Doesn't know what you need</a:t>
            </a:r>
          </a:p>
        </p:txBody>
      </p:sp>
      <p:sp>
        <p:nvSpPr>
          <p:cNvPr id="9" name="Rectangle 8"/>
          <p:cNvSpPr/>
          <p:nvPr/>
        </p:nvSpPr>
        <p:spPr>
          <a:xfrm>
            <a:off x="2926080" y="1737360"/>
            <a:ext cx="3017520" cy="1645920"/>
          </a:xfrm>
          <a:prstGeom prst="rect">
            <a:avLst/>
          </a:prstGeom>
          <a:solidFill>
            <a:srgbClr val="FDF2F4"/>
          </a:solidFill>
          <a:ln w="25400">
            <a:solidFill>
              <a:srgbClr val="A84C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0" y="2194560"/>
            <a:ext cx="3017520" cy="640080"/>
          </a:xfrm>
          <a:prstGeom prst="rect">
            <a:avLst/>
          </a:prstGeom>
          <a:noFill/>
        </p:spPr>
        <p:txBody>
          <a:bodyPr wrap="square">
            <a:spAutoFit/>
          </a:bodyPr>
          <a:lstStyle/>
          <a:p>
            <a:pPr algn="ctr">
              <a:defRPr sz="3600" b="1" i="0">
                <a:solidFill>
                  <a:srgbClr val="A84C6A"/>
                </a:solidFill>
                <a:latin typeface="Calibri"/>
              </a:defRPr>
            </a:pPr>
            <a:r>
              <a:t>CareCost</a:t>
            </a:r>
          </a:p>
        </p:txBody>
      </p:sp>
      <p:sp>
        <p:nvSpPr>
          <p:cNvPr id="11" name="Rectangle 10"/>
          <p:cNvSpPr/>
          <p:nvPr/>
        </p:nvSpPr>
        <p:spPr>
          <a:xfrm>
            <a:off x="5980176" y="1737360"/>
            <a:ext cx="3017520" cy="1645920"/>
          </a:xfrm>
          <a:prstGeom prst="rect">
            <a:avLst/>
          </a:prstGeom>
          <a:solidFill>
            <a:srgbClr val="FFFFFF"/>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17336" y="1874520"/>
            <a:ext cx="2743200" cy="1371600"/>
          </a:xfrm>
          <a:prstGeom prst="rect">
            <a:avLst/>
          </a:prstGeom>
          <a:noFill/>
        </p:spPr>
        <p:txBody>
          <a:bodyPr wrap="square">
            <a:spAutoFit/>
          </a:bodyPr>
          <a:lstStyle/>
          <a:p>
            <a:pPr algn="l">
              <a:defRPr sz="1100" b="0" i="0">
                <a:solidFill>
                  <a:srgbClr val="475569"/>
                </a:solidFill>
                <a:latin typeface="Calibri"/>
              </a:defRPr>
            </a:pPr>
            <a:r>
              <a:t>Turquoise ($95M)</a:t>
            </a:r>
            <a:br/>
            <a:r>
              <a:t>FAIR Health</a:t>
            </a:r>
            <a:br/>
            <a:r>
              <a:t>MDsave ($29M)</a:t>
            </a:r>
            <a:br/>
            <a:r>
              <a:t>GoodRx</a:t>
            </a:r>
            <a:br/>
            <a:r>
              <a:t>Sesame ($75M)</a:t>
            </a:r>
            <a:br/>
            <a:r>
              <a:t>Insurer estimators</a:t>
            </a:r>
          </a:p>
        </p:txBody>
      </p:sp>
      <p:sp>
        <p:nvSpPr>
          <p:cNvPr id="13" name="Rectangle 12"/>
          <p:cNvSpPr/>
          <p:nvPr/>
        </p:nvSpPr>
        <p:spPr>
          <a:xfrm>
            <a:off x="2926080" y="3419856"/>
            <a:ext cx="3017520" cy="1645920"/>
          </a:xfrm>
          <a:prstGeom prst="rect">
            <a:avLst/>
          </a:prstGeom>
          <a:solidFill>
            <a:srgbClr val="FFFFFF"/>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63240" y="3557016"/>
            <a:ext cx="2743200" cy="1371600"/>
          </a:xfrm>
          <a:prstGeom prst="rect">
            <a:avLst/>
          </a:prstGeom>
          <a:noFill/>
        </p:spPr>
        <p:txBody>
          <a:bodyPr wrap="square">
            <a:spAutoFit/>
          </a:bodyPr>
          <a:lstStyle/>
          <a:p>
            <a:pPr algn="l">
              <a:defRPr sz="1100" b="0" i="0">
                <a:solidFill>
                  <a:srgbClr val="475569"/>
                </a:solidFill>
                <a:latin typeface="Calibri"/>
              </a:defRPr>
            </a:pPr>
            <a:r>
              <a:t>Ada Health ($167M)</a:t>
            </a:r>
            <a:br/>
            <a:r>
              <a:t>K Health ($441M)</a:t>
            </a:r>
            <a:br/>
            <a:r>
              <a:t>Infermedica</a:t>
            </a:r>
            <a:br/>
            <a:r>
              <a:t>Buoy</a:t>
            </a:r>
          </a:p>
        </p:txBody>
      </p:sp>
      <p:sp>
        <p:nvSpPr>
          <p:cNvPr id="15" name="Rectangle 14"/>
          <p:cNvSpPr/>
          <p:nvPr/>
        </p:nvSpPr>
        <p:spPr>
          <a:xfrm>
            <a:off x="5980176" y="3419856"/>
            <a:ext cx="3017520" cy="1645920"/>
          </a:xfrm>
          <a:prstGeom prst="rect">
            <a:avLst/>
          </a:prstGeom>
          <a:solidFill>
            <a:srgbClr val="FFFFFF"/>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17336" y="3557016"/>
            <a:ext cx="2743200" cy="1371600"/>
          </a:xfrm>
          <a:prstGeom prst="rect">
            <a:avLst/>
          </a:prstGeom>
          <a:noFill/>
        </p:spPr>
        <p:txBody>
          <a:bodyPr wrap="square">
            <a:spAutoFit/>
          </a:bodyPr>
          <a:lstStyle/>
          <a:p>
            <a:pPr algn="l">
              <a:defRPr sz="1100" b="0" i="0">
                <a:solidFill>
                  <a:srgbClr val="64748B"/>
                </a:solidFill>
                <a:latin typeface="Calibri"/>
              </a:defRPr>
            </a:pPr>
            <a:r>
              <a:t>Transcarent ($940M)</a:t>
            </a:r>
            <a:br/>
            <a:r>
              <a:t>Included Health</a:t>
            </a:r>
            <a:br/>
            <a:r>
              <a:t>Rightway</a:t>
            </a:r>
            <a:br/>
            <a:r>
              <a:t>Nayya</a:t>
            </a:r>
          </a:p>
        </p:txBody>
      </p:sp>
      <p:sp>
        <p:nvSpPr>
          <p:cNvPr id="17" name="Rectangle 16"/>
          <p:cNvSpPr/>
          <p:nvPr/>
        </p:nvSpPr>
        <p:spPr>
          <a:xfrm>
            <a:off x="822960" y="5486400"/>
            <a:ext cx="3566160" cy="1005840"/>
          </a:xfrm>
          <a:prstGeom prst="rect">
            <a:avLst/>
          </a:prstGeom>
          <a:solidFill>
            <a:srgbClr val="FFFFFF"/>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5577840"/>
            <a:ext cx="3200400" cy="274320"/>
          </a:xfrm>
          <a:prstGeom prst="rect">
            <a:avLst/>
          </a:prstGeom>
          <a:noFill/>
        </p:spPr>
        <p:txBody>
          <a:bodyPr wrap="square">
            <a:spAutoFit/>
          </a:bodyPr>
          <a:lstStyle/>
          <a:p>
            <a:pPr algn="l">
              <a:defRPr sz="1300" b="1" i="0">
                <a:solidFill>
                  <a:srgbClr val="A84C6A"/>
                </a:solidFill>
                <a:latin typeface="Calibri"/>
              </a:defRPr>
            </a:pPr>
            <a:r>
              <a:t>Navigation platforms can't</a:t>
            </a:r>
          </a:p>
        </p:txBody>
      </p:sp>
      <p:sp>
        <p:nvSpPr>
          <p:cNvPr id="19" name="TextBox 18"/>
          <p:cNvSpPr txBox="1"/>
          <p:nvPr/>
        </p:nvSpPr>
        <p:spPr>
          <a:xfrm>
            <a:off x="1005840" y="5852160"/>
            <a:ext cx="3200400" cy="548640"/>
          </a:xfrm>
          <a:prstGeom prst="rect">
            <a:avLst/>
          </a:prstGeom>
          <a:noFill/>
        </p:spPr>
        <p:txBody>
          <a:bodyPr wrap="square">
            <a:spAutoFit/>
          </a:bodyPr>
          <a:lstStyle/>
          <a:p>
            <a:pPr algn="l">
              <a:defRPr sz="1100" b="0" i="0">
                <a:solidFill>
                  <a:srgbClr val="475569"/>
                </a:solidFill>
                <a:latin typeface="Calibri"/>
              </a:defRPr>
            </a:pPr>
            <a:r>
              <a:t>Employer-locked. Showing prices conflicts with "we handle everything" brand positioning.</a:t>
            </a:r>
          </a:p>
        </p:txBody>
      </p:sp>
      <p:sp>
        <p:nvSpPr>
          <p:cNvPr id="20" name="Rectangle 19"/>
          <p:cNvSpPr/>
          <p:nvPr/>
        </p:nvSpPr>
        <p:spPr>
          <a:xfrm>
            <a:off x="4571999" y="5486400"/>
            <a:ext cx="3566160" cy="1005840"/>
          </a:xfrm>
          <a:prstGeom prst="rect">
            <a:avLst/>
          </a:prstGeom>
          <a:solidFill>
            <a:srgbClr val="FFFFFF"/>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54879" y="5577840"/>
            <a:ext cx="3200400" cy="274320"/>
          </a:xfrm>
          <a:prstGeom prst="rect">
            <a:avLst/>
          </a:prstGeom>
          <a:noFill/>
        </p:spPr>
        <p:txBody>
          <a:bodyPr wrap="square">
            <a:spAutoFit/>
          </a:bodyPr>
          <a:lstStyle/>
          <a:p>
            <a:pPr algn="l">
              <a:defRPr sz="1300" b="1" i="0">
                <a:solidFill>
                  <a:srgbClr val="A84C6A"/>
                </a:solidFill>
                <a:latin typeface="Calibri"/>
              </a:defRPr>
            </a:pPr>
            <a:r>
              <a:t>Data infrastructure can't</a:t>
            </a:r>
          </a:p>
        </p:txBody>
      </p:sp>
      <p:sp>
        <p:nvSpPr>
          <p:cNvPr id="22" name="TextBox 21"/>
          <p:cNvSpPr txBox="1"/>
          <p:nvPr/>
        </p:nvSpPr>
        <p:spPr>
          <a:xfrm>
            <a:off x="4754879" y="5852160"/>
            <a:ext cx="3200400" cy="548640"/>
          </a:xfrm>
          <a:prstGeom prst="rect">
            <a:avLst/>
          </a:prstGeom>
          <a:noFill/>
        </p:spPr>
        <p:txBody>
          <a:bodyPr wrap="square">
            <a:spAutoFit/>
          </a:bodyPr>
          <a:lstStyle/>
          <a:p>
            <a:pPr algn="l">
              <a:defRPr sz="1100" b="0" i="0">
                <a:solidFill>
                  <a:srgbClr val="475569"/>
                </a:solidFill>
                <a:latin typeface="Calibri"/>
              </a:defRPr>
            </a:pPr>
            <a:r>
              <a:t>B2B DNA. Consumer layer threatens enterprise value—the Bloomberg Terminal problem.</a:t>
            </a:r>
          </a:p>
        </p:txBody>
      </p:sp>
      <p:sp>
        <p:nvSpPr>
          <p:cNvPr id="23" name="Rectangle 22"/>
          <p:cNvSpPr/>
          <p:nvPr/>
        </p:nvSpPr>
        <p:spPr>
          <a:xfrm>
            <a:off x="8321038" y="5486400"/>
            <a:ext cx="3566160" cy="1005840"/>
          </a:xfrm>
          <a:prstGeom prst="rect">
            <a:avLst/>
          </a:prstGeom>
          <a:solidFill>
            <a:srgbClr val="FFFFFF"/>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03918" y="5577840"/>
            <a:ext cx="3200400" cy="274320"/>
          </a:xfrm>
          <a:prstGeom prst="rect">
            <a:avLst/>
          </a:prstGeom>
          <a:noFill/>
        </p:spPr>
        <p:txBody>
          <a:bodyPr wrap="square">
            <a:spAutoFit/>
          </a:bodyPr>
          <a:lstStyle/>
          <a:p>
            <a:pPr algn="l">
              <a:defRPr sz="1300" b="1" i="0">
                <a:solidFill>
                  <a:srgbClr val="A84C6A"/>
                </a:solidFill>
                <a:latin typeface="Calibri"/>
              </a:defRPr>
            </a:pPr>
            <a:r>
              <a:t>Insurers can't</a:t>
            </a:r>
          </a:p>
        </p:txBody>
      </p:sp>
      <p:sp>
        <p:nvSpPr>
          <p:cNvPr id="25" name="TextBox 24"/>
          <p:cNvSpPr txBox="1"/>
          <p:nvPr/>
        </p:nvSpPr>
        <p:spPr>
          <a:xfrm>
            <a:off x="8503918" y="5852160"/>
            <a:ext cx="3200400" cy="548640"/>
          </a:xfrm>
          <a:prstGeom prst="rect">
            <a:avLst/>
          </a:prstGeom>
          <a:noFill/>
        </p:spPr>
        <p:txBody>
          <a:bodyPr wrap="square">
            <a:spAutoFit/>
          </a:bodyPr>
          <a:lstStyle/>
          <a:p>
            <a:pPr algn="l">
              <a:defRPr sz="1100" b="0" i="0">
                <a:solidFill>
                  <a:srgbClr val="475569"/>
                </a:solidFill>
                <a:latin typeface="Calibri"/>
              </a:defRPr>
            </a:pPr>
            <a:r>
              <a:t>Walled gardens. Will never show competitor rates or out-of-network transparency.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AF8"/>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A84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3657600" cy="274320"/>
          </a:xfrm>
          <a:prstGeom prst="rect">
            <a:avLst/>
          </a:prstGeom>
          <a:noFill/>
        </p:spPr>
        <p:txBody>
          <a:bodyPr wrap="square">
            <a:spAutoFit/>
          </a:bodyPr>
          <a:lstStyle/>
          <a:p>
            <a:pPr algn="l">
              <a:defRPr sz="1100" b="1" i="0">
                <a:solidFill>
                  <a:srgbClr val="A84C6A"/>
                </a:solidFill>
                <a:latin typeface="Calibri"/>
              </a:defRPr>
            </a:pPr>
            <a:r>
              <a:t>COMPETITIVE LANDSCAPE</a:t>
            </a:r>
          </a:p>
        </p:txBody>
      </p:sp>
      <p:sp>
        <p:nvSpPr>
          <p:cNvPr id="4" name="TextBox 3"/>
          <p:cNvSpPr txBox="1"/>
          <p:nvPr/>
        </p:nvSpPr>
        <p:spPr>
          <a:xfrm>
            <a:off x="822960" y="914400"/>
            <a:ext cx="10058400" cy="548640"/>
          </a:xfrm>
          <a:prstGeom prst="rect">
            <a:avLst/>
          </a:prstGeom>
          <a:noFill/>
        </p:spPr>
        <p:txBody>
          <a:bodyPr wrap="square">
            <a:spAutoFit/>
          </a:bodyPr>
          <a:lstStyle/>
          <a:p>
            <a:pPr algn="l">
              <a:defRPr sz="3000" b="1" i="0">
                <a:solidFill>
                  <a:srgbClr val="1A1F36"/>
                </a:solidFill>
                <a:latin typeface="Calibri"/>
              </a:defRPr>
            </a:pPr>
            <a:r>
              <a:t>Three things nobody else does. At all.</a:t>
            </a:r>
          </a:p>
        </p:txBody>
      </p:sp>
      <p:graphicFrame>
        <p:nvGraphicFramePr>
          <p:cNvPr id="5" name="Table 4"/>
          <p:cNvGraphicFramePr>
            <a:graphicFrameLocks noGrp="1"/>
          </p:cNvGraphicFramePr>
          <p:nvPr/>
        </p:nvGraphicFramePr>
        <p:xfrm>
          <a:off x="822960" y="1645920"/>
          <a:ext cx="6858000" cy="4114800"/>
        </p:xfrm>
        <a:graphic>
          <a:graphicData uri="http://schemas.openxmlformats.org/drawingml/2006/table">
            <a:tbl>
              <a:tblPr firstRow="1" bandRow="1">
                <a:tableStyleId>{5C22544A-7EE6-4342-B048-85BDC9FD1C3A}</a:tableStyleId>
              </a:tblPr>
              <a:tblGrid>
                <a:gridCol w="1714500"/>
                <a:gridCol w="1714500"/>
                <a:gridCol w="1714500"/>
                <a:gridCol w="1714500"/>
              </a:tblGrid>
              <a:tr h="514350">
                <a:tc>
                  <a:txBody>
                    <a:bodyPr/>
                    <a:lstStyle/>
                    <a:p>
                      <a:pPr>
                        <a:defRPr sz="1200" b="1">
                          <a:solidFill>
                            <a:srgbClr val="475569"/>
                          </a:solidFill>
                          <a:latin typeface="Calibri"/>
                        </a:defRPr>
                      </a:pPr>
                      <a:r>
                        <a:t>Tool</a:t>
                      </a:r>
                    </a:p>
                  </a:txBody>
                  <a:tcPr>
                    <a:solidFill>
                      <a:srgbClr val="F8F4F2"/>
                    </a:solidFill>
                  </a:tcPr>
                </a:tc>
                <a:tc>
                  <a:txBody>
                    <a:bodyPr/>
                    <a:lstStyle/>
                    <a:p>
                      <a:pPr>
                        <a:defRPr sz="1200" b="1">
                          <a:solidFill>
                            <a:srgbClr val="475569"/>
                          </a:solidFill>
                          <a:latin typeface="Calibri"/>
                        </a:defRPr>
                      </a:pPr>
                      <a:r>
                        <a:t>Scope Labels</a:t>
                      </a:r>
                    </a:p>
                  </a:txBody>
                  <a:tcPr>
                    <a:solidFill>
                      <a:srgbClr val="F8F4F2"/>
                    </a:solidFill>
                  </a:tcPr>
                </a:tc>
                <a:tc>
                  <a:txBody>
                    <a:bodyPr/>
                    <a:lstStyle/>
                    <a:p>
                      <a:pPr>
                        <a:defRPr sz="1200" b="1">
                          <a:solidFill>
                            <a:srgbClr val="475569"/>
                          </a:solidFill>
                          <a:latin typeface="Calibri"/>
                        </a:defRPr>
                      </a:pPr>
                      <a:r>
                        <a:t>Bundle Decomp.</a:t>
                      </a:r>
                    </a:p>
                  </a:txBody>
                  <a:tcPr>
                    <a:solidFill>
                      <a:srgbClr val="F8F4F2"/>
                    </a:solidFill>
                  </a:tcPr>
                </a:tc>
                <a:tc>
                  <a:txBody>
                    <a:bodyPr/>
                    <a:lstStyle/>
                    <a:p>
                      <a:pPr>
                        <a:defRPr sz="1200" b="1">
                          <a:solidFill>
                            <a:srgbClr val="475569"/>
                          </a:solidFill>
                          <a:latin typeface="Calibri"/>
                        </a:defRPr>
                      </a:pPr>
                      <a:r>
                        <a:t>Source Attribution</a:t>
                      </a:r>
                    </a:p>
                  </a:txBody>
                  <a:tcPr>
                    <a:solidFill>
                      <a:srgbClr val="F8F4F2"/>
                    </a:solidFill>
                  </a:tcPr>
                </a:tc>
              </a:tr>
              <a:tr h="514350">
                <a:tc>
                  <a:txBody>
                    <a:bodyPr/>
                    <a:lstStyle/>
                    <a:p>
                      <a:pPr>
                        <a:defRPr sz="1300" b="0">
                          <a:solidFill>
                            <a:srgbClr val="475569"/>
                          </a:solidFill>
                          <a:latin typeface="Calibri"/>
                        </a:defRPr>
                      </a:pPr>
                      <a:r>
                        <a:t>Turquoise</a:t>
                      </a:r>
                    </a:p>
                  </a:txBody>
                  <a:tcPr/>
                </a:tc>
                <a:tc>
                  <a:txBody>
                    <a:bodyPr/>
                    <a:lstStyle/>
                    <a:p>
                      <a:pPr algn="ctr">
                        <a:defRPr sz="1300">
                          <a:solidFill>
                            <a:srgbClr val="DC2626"/>
                          </a:solidFill>
                          <a:latin typeface="Calibri"/>
                        </a:defRPr>
                      </a:pPr>
                      <a:r>
                        <a:t>✗</a:t>
                      </a:r>
                    </a:p>
                  </a:txBody>
                  <a:tcPr/>
                </a:tc>
                <a:tc>
                  <a:txBody>
                    <a:bodyPr/>
                    <a:lstStyle/>
                    <a:p>
                      <a:pPr algn="ctr">
                        <a:defRPr sz="1300">
                          <a:solidFill>
                            <a:srgbClr val="DC2626"/>
                          </a:solidFill>
                          <a:latin typeface="Calibri"/>
                        </a:defRPr>
                      </a:pPr>
                      <a:r>
                        <a:t>✗</a:t>
                      </a:r>
                    </a:p>
                  </a:txBody>
                  <a:tcPr/>
                </a:tc>
                <a:tc>
                  <a:txBody>
                    <a:bodyPr/>
                    <a:lstStyle/>
                    <a:p>
                      <a:pPr algn="ctr">
                        <a:defRPr sz="1300">
                          <a:solidFill>
                            <a:srgbClr val="B8893D"/>
                          </a:solidFill>
                          <a:latin typeface="Calibri"/>
                        </a:defRPr>
                      </a:pPr>
                      <a:r>
                        <a:t>~</a:t>
                      </a:r>
                    </a:p>
                  </a:txBody>
                  <a:tcPr/>
                </a:tc>
              </a:tr>
              <a:tr h="514350">
                <a:tc>
                  <a:txBody>
                    <a:bodyPr/>
                    <a:lstStyle/>
                    <a:p>
                      <a:pPr>
                        <a:defRPr sz="1300" b="0">
                          <a:solidFill>
                            <a:srgbClr val="475569"/>
                          </a:solidFill>
                          <a:latin typeface="Calibri"/>
                        </a:defRPr>
                      </a:pPr>
                      <a:r>
                        <a:t>FAIR Health</a:t>
                      </a:r>
                    </a:p>
                  </a:txBody>
                  <a:tcPr/>
                </a:tc>
                <a:tc>
                  <a:txBody>
                    <a:bodyPr/>
                    <a:lstStyle/>
                    <a:p>
                      <a:pPr algn="ctr">
                        <a:defRPr sz="1300">
                          <a:solidFill>
                            <a:srgbClr val="DC2626"/>
                          </a:solidFill>
                          <a:latin typeface="Calibri"/>
                        </a:defRPr>
                      </a:pPr>
                      <a:r>
                        <a:t>✗</a:t>
                      </a:r>
                    </a:p>
                  </a:txBody>
                  <a:tcPr/>
                </a:tc>
                <a:tc>
                  <a:txBody>
                    <a:bodyPr/>
                    <a:lstStyle/>
                    <a:p>
                      <a:pPr algn="ctr">
                        <a:defRPr sz="1300">
                          <a:solidFill>
                            <a:srgbClr val="DC2626"/>
                          </a:solidFill>
                          <a:latin typeface="Calibri"/>
                        </a:defRPr>
                      </a:pPr>
                      <a:r>
                        <a:t>✗</a:t>
                      </a:r>
                    </a:p>
                  </a:txBody>
                  <a:tcPr/>
                </a:tc>
                <a:tc>
                  <a:txBody>
                    <a:bodyPr/>
                    <a:lstStyle/>
                    <a:p>
                      <a:pPr algn="ctr">
                        <a:defRPr sz="1300">
                          <a:solidFill>
                            <a:srgbClr val="DC2626"/>
                          </a:solidFill>
                          <a:latin typeface="Calibri"/>
                        </a:defRPr>
                      </a:pPr>
                      <a:r>
                        <a:t>✗</a:t>
                      </a:r>
                    </a:p>
                  </a:txBody>
                  <a:tcPr/>
                </a:tc>
              </a:tr>
              <a:tr h="514350">
                <a:tc>
                  <a:txBody>
                    <a:bodyPr/>
                    <a:lstStyle/>
                    <a:p>
                      <a:pPr>
                        <a:defRPr sz="1300" b="0">
                          <a:solidFill>
                            <a:srgbClr val="475569"/>
                          </a:solidFill>
                          <a:latin typeface="Calibri"/>
                        </a:defRPr>
                      </a:pPr>
                      <a:r>
                        <a:t>MDsave</a:t>
                      </a:r>
                    </a:p>
                  </a:txBody>
                  <a:tcPr/>
                </a:tc>
                <a:tc>
                  <a:txBody>
                    <a:bodyPr/>
                    <a:lstStyle/>
                    <a:p>
                      <a:pPr algn="ctr">
                        <a:defRPr sz="1300">
                          <a:solidFill>
                            <a:srgbClr val="DC2626"/>
                          </a:solidFill>
                          <a:latin typeface="Calibri"/>
                        </a:defRPr>
                      </a:pPr>
                      <a:r>
                        <a:t>✗</a:t>
                      </a:r>
                    </a:p>
                  </a:txBody>
                  <a:tcPr/>
                </a:tc>
                <a:tc>
                  <a:txBody>
                    <a:bodyPr/>
                    <a:lstStyle/>
                    <a:p>
                      <a:pPr algn="ctr">
                        <a:defRPr sz="1300">
                          <a:solidFill>
                            <a:srgbClr val="DC2626"/>
                          </a:solidFill>
                          <a:latin typeface="Calibri"/>
                        </a:defRPr>
                      </a:pPr>
                      <a:r>
                        <a:t>✗</a:t>
                      </a:r>
                    </a:p>
                  </a:txBody>
                  <a:tcPr/>
                </a:tc>
                <a:tc>
                  <a:txBody>
                    <a:bodyPr/>
                    <a:lstStyle/>
                    <a:p>
                      <a:pPr algn="ctr">
                        <a:defRPr sz="1300">
                          <a:solidFill>
                            <a:srgbClr val="B8893D"/>
                          </a:solidFill>
                          <a:latin typeface="Calibri"/>
                        </a:defRPr>
                      </a:pPr>
                      <a:r>
                        <a:t>~</a:t>
                      </a:r>
                    </a:p>
                  </a:txBody>
                  <a:tcPr/>
                </a:tc>
              </a:tr>
              <a:tr h="514350">
                <a:tc>
                  <a:txBody>
                    <a:bodyPr/>
                    <a:lstStyle/>
                    <a:p>
                      <a:pPr>
                        <a:defRPr sz="1300" b="0">
                          <a:solidFill>
                            <a:srgbClr val="475569"/>
                          </a:solidFill>
                          <a:latin typeface="Calibri"/>
                        </a:defRPr>
                      </a:pPr>
                      <a:r>
                        <a:t>Insurer Estimators</a:t>
                      </a:r>
                    </a:p>
                  </a:txBody>
                  <a:tcPr/>
                </a:tc>
                <a:tc>
                  <a:txBody>
                    <a:bodyPr/>
                    <a:lstStyle/>
                    <a:p>
                      <a:pPr algn="ctr">
                        <a:defRPr sz="1300">
                          <a:solidFill>
                            <a:srgbClr val="DC2626"/>
                          </a:solidFill>
                          <a:latin typeface="Calibri"/>
                        </a:defRPr>
                      </a:pPr>
                      <a:r>
                        <a:t>✗</a:t>
                      </a:r>
                    </a:p>
                  </a:txBody>
                  <a:tcPr/>
                </a:tc>
                <a:tc>
                  <a:txBody>
                    <a:bodyPr/>
                    <a:lstStyle/>
                    <a:p>
                      <a:pPr algn="ctr">
                        <a:defRPr sz="1300">
                          <a:solidFill>
                            <a:srgbClr val="DC2626"/>
                          </a:solidFill>
                          <a:latin typeface="Calibri"/>
                        </a:defRPr>
                      </a:pPr>
                      <a:r>
                        <a:t>✗</a:t>
                      </a:r>
                    </a:p>
                  </a:txBody>
                  <a:tcPr/>
                </a:tc>
                <a:tc>
                  <a:txBody>
                    <a:bodyPr/>
                    <a:lstStyle/>
                    <a:p>
                      <a:pPr algn="ctr">
                        <a:defRPr sz="1300">
                          <a:solidFill>
                            <a:srgbClr val="DC2626"/>
                          </a:solidFill>
                          <a:latin typeface="Calibri"/>
                        </a:defRPr>
                      </a:pPr>
                      <a:r>
                        <a:t>✗</a:t>
                      </a:r>
                    </a:p>
                  </a:txBody>
                  <a:tcPr/>
                </a:tc>
              </a:tr>
              <a:tr h="514350">
                <a:tc>
                  <a:txBody>
                    <a:bodyPr/>
                    <a:lstStyle/>
                    <a:p>
                      <a:pPr>
                        <a:defRPr sz="1300" b="0">
                          <a:solidFill>
                            <a:srgbClr val="475569"/>
                          </a:solidFill>
                          <a:latin typeface="Calibri"/>
                        </a:defRPr>
                      </a:pPr>
                      <a:r>
                        <a:t>Navigation Platforms</a:t>
                      </a:r>
                    </a:p>
                  </a:txBody>
                  <a:tcPr/>
                </a:tc>
                <a:tc>
                  <a:txBody>
                    <a:bodyPr/>
                    <a:lstStyle/>
                    <a:p>
                      <a:pPr algn="ctr">
                        <a:defRPr sz="1300">
                          <a:solidFill>
                            <a:srgbClr val="B8893D"/>
                          </a:solidFill>
                          <a:latin typeface="Calibri"/>
                        </a:defRPr>
                      </a:pPr>
                      <a:r>
                        <a:t>~</a:t>
                      </a:r>
                    </a:p>
                  </a:txBody>
                  <a:tcPr/>
                </a:tc>
                <a:tc>
                  <a:txBody>
                    <a:bodyPr/>
                    <a:lstStyle/>
                    <a:p>
                      <a:pPr algn="ctr">
                        <a:defRPr sz="1300">
                          <a:solidFill>
                            <a:srgbClr val="DC2626"/>
                          </a:solidFill>
                          <a:latin typeface="Calibri"/>
                        </a:defRPr>
                      </a:pPr>
                      <a:r>
                        <a:t>✗</a:t>
                      </a:r>
                    </a:p>
                  </a:txBody>
                  <a:tcPr/>
                </a:tc>
                <a:tc>
                  <a:txBody>
                    <a:bodyPr/>
                    <a:lstStyle/>
                    <a:p>
                      <a:pPr algn="ctr">
                        <a:defRPr sz="1300">
                          <a:solidFill>
                            <a:srgbClr val="DC2626"/>
                          </a:solidFill>
                          <a:latin typeface="Calibri"/>
                        </a:defRPr>
                      </a:pPr>
                      <a:r>
                        <a:t>✗</a:t>
                      </a:r>
                    </a:p>
                  </a:txBody>
                  <a:tcPr/>
                </a:tc>
              </a:tr>
              <a:tr h="514350">
                <a:tc>
                  <a:txBody>
                    <a:bodyPr/>
                    <a:lstStyle/>
                    <a:p>
                      <a:pPr>
                        <a:defRPr sz="1300" b="0">
                          <a:solidFill>
                            <a:srgbClr val="475569"/>
                          </a:solidFill>
                          <a:latin typeface="Calibri"/>
                        </a:defRPr>
                      </a:pPr>
                      <a:r>
                        <a:t>Symptom Checkers</a:t>
                      </a:r>
                    </a:p>
                  </a:txBody>
                  <a:tcPr/>
                </a:tc>
                <a:tc>
                  <a:txBody>
                    <a:bodyPr/>
                    <a:lstStyle/>
                    <a:p>
                      <a:pPr algn="ctr">
                        <a:defRPr sz="1300">
                          <a:solidFill>
                            <a:srgbClr val="DC2626"/>
                          </a:solidFill>
                          <a:latin typeface="Calibri"/>
                        </a:defRPr>
                      </a:pPr>
                      <a:r>
                        <a:t>✗</a:t>
                      </a:r>
                    </a:p>
                  </a:txBody>
                  <a:tcPr/>
                </a:tc>
                <a:tc>
                  <a:txBody>
                    <a:bodyPr/>
                    <a:lstStyle/>
                    <a:p>
                      <a:pPr algn="ctr">
                        <a:defRPr sz="1300">
                          <a:solidFill>
                            <a:srgbClr val="DC2626"/>
                          </a:solidFill>
                          <a:latin typeface="Calibri"/>
                        </a:defRPr>
                      </a:pPr>
                      <a:r>
                        <a:t>✗</a:t>
                      </a:r>
                    </a:p>
                  </a:txBody>
                  <a:tcPr/>
                </a:tc>
                <a:tc>
                  <a:txBody>
                    <a:bodyPr/>
                    <a:lstStyle/>
                    <a:p>
                      <a:pPr algn="ctr">
                        <a:defRPr sz="1300">
                          <a:solidFill>
                            <a:srgbClr val="DC2626"/>
                          </a:solidFill>
                          <a:latin typeface="Calibri"/>
                        </a:defRPr>
                      </a:pPr>
                      <a:r>
                        <a:t>✗</a:t>
                      </a:r>
                    </a:p>
                  </a:txBody>
                  <a:tcPr/>
                </a:tc>
              </a:tr>
              <a:tr h="514350">
                <a:tc>
                  <a:txBody>
                    <a:bodyPr/>
                    <a:lstStyle/>
                    <a:p>
                      <a:pPr>
                        <a:defRPr sz="1300" b="1">
                          <a:solidFill>
                            <a:srgbClr val="A84C6A"/>
                          </a:solidFill>
                          <a:latin typeface="Calibri"/>
                        </a:defRPr>
                      </a:pPr>
                      <a:r>
                        <a:t>CareCost</a:t>
                      </a:r>
                    </a:p>
                  </a:txBody>
                  <a:tcPr>
                    <a:solidFill>
                      <a:srgbClr val="FDF2F4"/>
                    </a:solidFill>
                  </a:tcPr>
                </a:tc>
                <a:tc>
                  <a:txBody>
                    <a:bodyPr/>
                    <a:lstStyle/>
                    <a:p>
                      <a:pPr algn="ctr">
                        <a:defRPr sz="1300" b="1">
                          <a:solidFill>
                            <a:srgbClr val="16A34A"/>
                          </a:solidFill>
                          <a:latin typeface="Calibri"/>
                        </a:defRPr>
                      </a:pPr>
                      <a:r>
                        <a:t>✓</a:t>
                      </a:r>
                    </a:p>
                  </a:txBody>
                  <a:tcPr>
                    <a:solidFill>
                      <a:srgbClr val="FDF2F4"/>
                    </a:solidFill>
                  </a:tcPr>
                </a:tc>
                <a:tc>
                  <a:txBody>
                    <a:bodyPr/>
                    <a:lstStyle/>
                    <a:p>
                      <a:pPr algn="ctr">
                        <a:defRPr sz="1300" b="1">
                          <a:solidFill>
                            <a:srgbClr val="16A34A"/>
                          </a:solidFill>
                          <a:latin typeface="Calibri"/>
                        </a:defRPr>
                      </a:pPr>
                      <a:r>
                        <a:t>✓</a:t>
                      </a:r>
                    </a:p>
                  </a:txBody>
                  <a:tcPr>
                    <a:solidFill>
                      <a:srgbClr val="FDF2F4"/>
                    </a:solidFill>
                  </a:tcPr>
                </a:tc>
                <a:tc>
                  <a:txBody>
                    <a:bodyPr/>
                    <a:lstStyle/>
                    <a:p>
                      <a:pPr algn="ctr">
                        <a:defRPr sz="1300" b="1">
                          <a:solidFill>
                            <a:srgbClr val="16A34A"/>
                          </a:solidFill>
                          <a:latin typeface="Calibri"/>
                        </a:defRPr>
                      </a:pPr>
                      <a:r>
                        <a:t>✓</a:t>
                      </a:r>
                    </a:p>
                  </a:txBody>
                  <a:tcPr>
                    <a:solidFill>
                      <a:srgbClr val="FDF2F4"/>
                    </a:solidFill>
                  </a:tcPr>
                </a:tc>
              </a:tr>
            </a:tbl>
          </a:graphicData>
        </a:graphic>
      </p:graphicFrame>
      <p:sp>
        <p:nvSpPr>
          <p:cNvPr id="6" name="Rectangle 5"/>
          <p:cNvSpPr/>
          <p:nvPr/>
        </p:nvSpPr>
        <p:spPr>
          <a:xfrm>
            <a:off x="8046720" y="1645920"/>
            <a:ext cx="3840480" cy="3474720"/>
          </a:xfrm>
          <a:prstGeom prst="rect">
            <a:avLst/>
          </a:prstGeom>
          <a:solidFill>
            <a:srgbClr val="FFFFFF"/>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21040" y="1828800"/>
            <a:ext cx="3291840" cy="365760"/>
          </a:xfrm>
          <a:prstGeom prst="rect">
            <a:avLst/>
          </a:prstGeom>
          <a:noFill/>
        </p:spPr>
        <p:txBody>
          <a:bodyPr wrap="square">
            <a:spAutoFit/>
          </a:bodyPr>
          <a:lstStyle/>
          <a:p>
            <a:pPr algn="l">
              <a:defRPr sz="2200" b="1" i="0">
                <a:solidFill>
                  <a:srgbClr val="A84C6A"/>
                </a:solidFill>
                <a:latin typeface="Calibri"/>
              </a:defRPr>
            </a:pPr>
            <a:r>
              <a:t>The Moat</a:t>
            </a:r>
          </a:p>
        </p:txBody>
      </p:sp>
      <p:sp>
        <p:nvSpPr>
          <p:cNvPr id="8" name="TextBox 7"/>
          <p:cNvSpPr txBox="1"/>
          <p:nvPr/>
        </p:nvSpPr>
        <p:spPr>
          <a:xfrm>
            <a:off x="8321040" y="2286000"/>
            <a:ext cx="3291840" cy="365760"/>
          </a:xfrm>
          <a:prstGeom prst="rect">
            <a:avLst/>
          </a:prstGeom>
          <a:noFill/>
        </p:spPr>
        <p:txBody>
          <a:bodyPr wrap="square">
            <a:spAutoFit/>
          </a:bodyPr>
          <a:lstStyle/>
          <a:p>
            <a:pPr algn="l">
              <a:defRPr sz="1400" b="0" i="0">
                <a:solidFill>
                  <a:srgbClr val="475569"/>
                </a:solidFill>
                <a:latin typeface="Calibri"/>
              </a:defRPr>
            </a:pPr>
            <a:r>
              <a:t>Bad data is the moat.</a:t>
            </a:r>
          </a:p>
        </p:txBody>
      </p:sp>
      <p:sp>
        <p:nvSpPr>
          <p:cNvPr id="9" name="TextBox 8"/>
          <p:cNvSpPr txBox="1"/>
          <p:nvPr/>
        </p:nvSpPr>
        <p:spPr>
          <a:xfrm>
            <a:off x="8321040" y="2743200"/>
            <a:ext cx="3291840" cy="1097280"/>
          </a:xfrm>
          <a:prstGeom prst="rect">
            <a:avLst/>
          </a:prstGeom>
          <a:noFill/>
        </p:spPr>
        <p:txBody>
          <a:bodyPr wrap="square">
            <a:spAutoFit/>
          </a:bodyPr>
          <a:lstStyle/>
          <a:p>
            <a:pPr algn="l">
              <a:defRPr sz="1200" b="0" i="0">
                <a:solidFill>
                  <a:srgbClr val="475569"/>
                </a:solidFill>
                <a:latin typeface="Calibri"/>
              </a:defRPr>
            </a:pPr>
            <a:r>
              <a:t>If hospital pricing files were clean, Google would have built this in 2022. The data is garbage at 7,098 hospitals—and cleaning garbage isn't a problem big tech's architecture solves. It's a problem a focused startup solves.</a:t>
            </a:r>
          </a:p>
        </p:txBody>
      </p:sp>
      <p:sp>
        <p:nvSpPr>
          <p:cNvPr id="10" name="TextBox 9"/>
          <p:cNvSpPr txBox="1"/>
          <p:nvPr/>
        </p:nvSpPr>
        <p:spPr>
          <a:xfrm>
            <a:off x="8321040" y="4114800"/>
            <a:ext cx="3291840" cy="822960"/>
          </a:xfrm>
          <a:prstGeom prst="rect">
            <a:avLst/>
          </a:prstGeom>
          <a:noFill/>
        </p:spPr>
        <p:txBody>
          <a:bodyPr wrap="square">
            <a:spAutoFit/>
          </a:bodyPr>
          <a:lstStyle/>
          <a:p>
            <a:pPr algn="l">
              <a:defRPr sz="1200" b="0" i="1">
                <a:solidFill>
                  <a:srgbClr val="64748B"/>
                </a:solidFill>
                <a:latin typeface="Calibri"/>
              </a:defRPr>
            </a:pPr>
            <a:r>
              <a:t>21% hospital compliance</a:t>
            </a:r>
            <a:br/>
            <a:r>
              <a:t>65% non-standard formats</a:t>
            </a:r>
            <a:br/>
            <a:r>
              <a:t>Zero quality assessment by CMS</a:t>
            </a:r>
          </a:p>
        </p:txBody>
      </p:sp>
      <p:sp>
        <p:nvSpPr>
          <p:cNvPr id="11" name="Rectangle 10"/>
          <p:cNvSpPr/>
          <p:nvPr/>
        </p:nvSpPr>
        <p:spPr>
          <a:xfrm>
            <a:off x="822960" y="6035040"/>
            <a:ext cx="11064240" cy="548640"/>
          </a:xfrm>
          <a:prstGeom prst="rect">
            <a:avLst/>
          </a:prstGeom>
          <a:solidFill>
            <a:srgbClr val="FFFFFF"/>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 y="6035040"/>
            <a:ext cx="36576" cy="548640"/>
          </a:xfrm>
          <a:prstGeom prst="rect">
            <a:avLst/>
          </a:prstGeom>
          <a:solidFill>
            <a:srgbClr val="A84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6126480"/>
            <a:ext cx="10515600" cy="365760"/>
          </a:xfrm>
          <a:prstGeom prst="rect">
            <a:avLst/>
          </a:prstGeom>
          <a:noFill/>
        </p:spPr>
        <p:txBody>
          <a:bodyPr wrap="square">
            <a:spAutoFit/>
          </a:bodyPr>
          <a:lstStyle/>
          <a:p>
            <a:pPr algn="l">
              <a:defRPr sz="1300" b="1" i="0">
                <a:solidFill>
                  <a:srgbClr val="475569"/>
                </a:solidFill>
                <a:latin typeface="Calibri"/>
              </a:defRPr>
            </a:pPr>
            <a:r>
              <a:t>No existing tool labels the scope, decomposes the bundle, AND cites the source.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AF8"/>
        </a:solidFill>
        <a:effectLst/>
      </p:bgPr>
    </p:bg>
    <p:spTree>
      <p:nvGrpSpPr>
        <p:cNvPr id="1" name=""/>
        <p:cNvGrpSpPr/>
        <p:nvPr/>
      </p:nvGrpSpPr>
      <p:grpSpPr/>
      <p:sp>
        <p:nvSpPr>
          <p:cNvPr id="2" name="Rectangle 1"/>
          <p:cNvSpPr/>
          <p:nvPr/>
        </p:nvSpPr>
        <p:spPr>
          <a:xfrm>
            <a:off x="0" y="0"/>
            <a:ext cx="54864" cy="6858000"/>
          </a:xfrm>
          <a:prstGeom prst="rect">
            <a:avLst/>
          </a:prstGeom>
          <a:solidFill>
            <a:srgbClr val="A84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3657600" cy="274320"/>
          </a:xfrm>
          <a:prstGeom prst="rect">
            <a:avLst/>
          </a:prstGeom>
          <a:noFill/>
        </p:spPr>
        <p:txBody>
          <a:bodyPr wrap="square">
            <a:spAutoFit/>
          </a:bodyPr>
          <a:lstStyle/>
          <a:p>
            <a:pPr algn="l">
              <a:defRPr sz="1100" b="1" i="0">
                <a:solidFill>
                  <a:srgbClr val="A84C6A"/>
                </a:solidFill>
                <a:latin typeface="Calibri"/>
              </a:defRPr>
            </a:pPr>
            <a:r>
              <a:t>COMPETITIVE LANDSCAPE</a:t>
            </a:r>
          </a:p>
        </p:txBody>
      </p:sp>
      <p:sp>
        <p:nvSpPr>
          <p:cNvPr id="4" name="TextBox 3"/>
          <p:cNvSpPr txBox="1"/>
          <p:nvPr/>
        </p:nvSpPr>
        <p:spPr>
          <a:xfrm>
            <a:off x="822960" y="914400"/>
            <a:ext cx="10058400" cy="457200"/>
          </a:xfrm>
          <a:prstGeom prst="rect">
            <a:avLst/>
          </a:prstGeom>
          <a:noFill/>
        </p:spPr>
        <p:txBody>
          <a:bodyPr wrap="square">
            <a:spAutoFit/>
          </a:bodyPr>
          <a:lstStyle/>
          <a:p>
            <a:pPr algn="l">
              <a:defRPr sz="2800" b="1" i="0">
                <a:solidFill>
                  <a:srgbClr val="1A1F36"/>
                </a:solidFill>
                <a:latin typeface="Calibri"/>
              </a:defRPr>
            </a:pPr>
            <a:r>
              <a:t>Eight categories. Eight structural locks.</a:t>
            </a:r>
          </a:p>
        </p:txBody>
      </p:sp>
      <p:sp>
        <p:nvSpPr>
          <p:cNvPr id="5" name="TextBox 4"/>
          <p:cNvSpPr txBox="1"/>
          <p:nvPr/>
        </p:nvSpPr>
        <p:spPr>
          <a:xfrm>
            <a:off x="822960" y="1371600"/>
            <a:ext cx="10058400" cy="274320"/>
          </a:xfrm>
          <a:prstGeom prst="rect">
            <a:avLst/>
          </a:prstGeom>
          <a:noFill/>
        </p:spPr>
        <p:txBody>
          <a:bodyPr wrap="square">
            <a:spAutoFit/>
          </a:bodyPr>
          <a:lstStyle/>
          <a:p>
            <a:pPr algn="l">
              <a:defRPr sz="1600" b="0" i="0">
                <a:solidFill>
                  <a:srgbClr val="475569"/>
                </a:solidFill>
                <a:latin typeface="Calibri"/>
              </a:defRPr>
            </a:pPr>
            <a:r>
              <a:t>Why $3.7B in combined funding can't follow us into the empty quadrant.</a:t>
            </a:r>
          </a:p>
        </p:txBody>
      </p:sp>
      <p:sp>
        <p:nvSpPr>
          <p:cNvPr id="6" name="Rectangle 5"/>
          <p:cNvSpPr/>
          <p:nvPr/>
        </p:nvSpPr>
        <p:spPr>
          <a:xfrm>
            <a:off x="822960" y="1920240"/>
            <a:ext cx="5212080" cy="2194560"/>
          </a:xfrm>
          <a:prstGeom prst="rect">
            <a:avLst/>
          </a:prstGeom>
          <a:solidFill>
            <a:srgbClr val="FFFFFF"/>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011680"/>
            <a:ext cx="457200" cy="365760"/>
          </a:xfrm>
          <a:prstGeom prst="rect">
            <a:avLst/>
          </a:prstGeom>
          <a:noFill/>
        </p:spPr>
        <p:txBody>
          <a:bodyPr wrap="square">
            <a:spAutoFit/>
          </a:bodyPr>
          <a:lstStyle/>
          <a:p>
            <a:pPr algn="l">
              <a:defRPr sz="2800" b="1" i="0">
                <a:solidFill>
                  <a:srgbClr val="A84C6A"/>
                </a:solidFill>
                <a:latin typeface="Calibri"/>
              </a:defRPr>
            </a:pPr>
            <a:r>
              <a:t>1</a:t>
            </a:r>
          </a:p>
        </p:txBody>
      </p:sp>
      <p:sp>
        <p:nvSpPr>
          <p:cNvPr id="8" name="TextBox 7"/>
          <p:cNvSpPr txBox="1"/>
          <p:nvPr/>
        </p:nvSpPr>
        <p:spPr>
          <a:xfrm>
            <a:off x="1463040" y="2011680"/>
            <a:ext cx="4114800" cy="274320"/>
          </a:xfrm>
          <a:prstGeom prst="rect">
            <a:avLst/>
          </a:prstGeom>
          <a:noFill/>
        </p:spPr>
        <p:txBody>
          <a:bodyPr wrap="square">
            <a:spAutoFit/>
          </a:bodyPr>
          <a:lstStyle/>
          <a:p>
            <a:pPr algn="l">
              <a:defRPr sz="1600" b="1" i="0">
                <a:solidFill>
                  <a:srgbClr val="1A1F36"/>
                </a:solidFill>
                <a:latin typeface="Calibri"/>
              </a:defRPr>
            </a:pPr>
            <a:r>
              <a:t>Navigation Platforms</a:t>
            </a:r>
          </a:p>
        </p:txBody>
      </p:sp>
      <p:sp>
        <p:nvSpPr>
          <p:cNvPr id="9" name="TextBox 8"/>
          <p:cNvSpPr txBox="1"/>
          <p:nvPr/>
        </p:nvSpPr>
        <p:spPr>
          <a:xfrm>
            <a:off x="1463040" y="2267712"/>
            <a:ext cx="4114800" cy="182880"/>
          </a:xfrm>
          <a:prstGeom prst="rect">
            <a:avLst/>
          </a:prstGeom>
          <a:noFill/>
        </p:spPr>
        <p:txBody>
          <a:bodyPr wrap="square">
            <a:spAutoFit/>
          </a:bodyPr>
          <a:lstStyle/>
          <a:p>
            <a:pPr algn="l">
              <a:defRPr sz="1000" b="0" i="0">
                <a:solidFill>
                  <a:srgbClr val="64748B"/>
                </a:solidFill>
                <a:latin typeface="Calibri"/>
              </a:defRPr>
            </a:pPr>
            <a:r>
              <a:t>$11.9B market</a:t>
            </a:r>
          </a:p>
        </p:txBody>
      </p:sp>
      <p:sp>
        <p:nvSpPr>
          <p:cNvPr id="10" name="TextBox 9"/>
          <p:cNvSpPr txBox="1"/>
          <p:nvPr/>
        </p:nvSpPr>
        <p:spPr>
          <a:xfrm>
            <a:off x="1005840" y="2514600"/>
            <a:ext cx="4846320" cy="228600"/>
          </a:xfrm>
          <a:prstGeom prst="rect">
            <a:avLst/>
          </a:prstGeom>
          <a:noFill/>
        </p:spPr>
        <p:txBody>
          <a:bodyPr wrap="square">
            <a:spAutoFit/>
          </a:bodyPr>
          <a:lstStyle/>
          <a:p>
            <a:pPr algn="l">
              <a:defRPr sz="1000" b="0" i="0">
                <a:solidFill>
                  <a:srgbClr val="475569"/>
                </a:solidFill>
                <a:latin typeface="Calibri"/>
              </a:defRPr>
            </a:pPr>
            <a:r>
              <a:t>Transcarent ($940M) · Included Health · Rightway · Accolade</a:t>
            </a:r>
          </a:p>
        </p:txBody>
      </p:sp>
      <p:sp>
        <p:nvSpPr>
          <p:cNvPr id="11" name="TextBox 10"/>
          <p:cNvSpPr txBox="1"/>
          <p:nvPr/>
        </p:nvSpPr>
        <p:spPr>
          <a:xfrm>
            <a:off x="1005840" y="2788920"/>
            <a:ext cx="4846320" cy="777240"/>
          </a:xfrm>
          <a:prstGeom prst="rect">
            <a:avLst/>
          </a:prstGeom>
          <a:noFill/>
        </p:spPr>
        <p:txBody>
          <a:bodyPr wrap="square">
            <a:spAutoFit/>
          </a:bodyPr>
          <a:lstStyle/>
          <a:p>
            <a:pPr algn="l">
              <a:defRPr sz="1100" b="0" i="0">
                <a:solidFill>
                  <a:srgbClr val="475569"/>
                </a:solidFill>
                <a:latin typeface="Calibri"/>
              </a:defRPr>
            </a:pPr>
            <a:r>
              <a:t>Employer pays $4-15 PMPM. Consumer product would cannibalize revenue. 3-13% utilization proves the model is broken.</a:t>
            </a:r>
          </a:p>
        </p:txBody>
      </p:sp>
      <p:sp>
        <p:nvSpPr>
          <p:cNvPr id="12" name="Rectangle 11"/>
          <p:cNvSpPr/>
          <p:nvPr/>
        </p:nvSpPr>
        <p:spPr>
          <a:xfrm>
            <a:off x="1005840" y="3657600"/>
            <a:ext cx="2011680" cy="274320"/>
          </a:xfrm>
          <a:prstGeom prst="rect">
            <a:avLst/>
          </a:prstGeom>
          <a:solidFill>
            <a:srgbClr val="802020"/>
          </a:solidFill>
          <a:ln w="12700">
            <a:solidFill>
              <a:srgbClr val="8020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657600"/>
            <a:ext cx="2011680" cy="274320"/>
          </a:xfrm>
          <a:prstGeom prst="rect">
            <a:avLst/>
          </a:prstGeom>
          <a:noFill/>
        </p:spPr>
        <p:txBody>
          <a:bodyPr wrap="square">
            <a:spAutoFit/>
          </a:bodyPr>
          <a:lstStyle/>
          <a:p>
            <a:pPr algn="ctr">
              <a:defRPr sz="900" b="1" i="0">
                <a:solidFill>
                  <a:srgbClr val="F0B0B0"/>
                </a:solidFill>
                <a:latin typeface="Calibri"/>
              </a:defRPr>
            </a:pPr>
            <a:r>
              <a:t>STRUCTURALLY LOCKED</a:t>
            </a:r>
          </a:p>
        </p:txBody>
      </p:sp>
      <p:sp>
        <p:nvSpPr>
          <p:cNvPr id="14" name="Rectangle 13"/>
          <p:cNvSpPr/>
          <p:nvPr/>
        </p:nvSpPr>
        <p:spPr>
          <a:xfrm>
            <a:off x="6263640" y="1920240"/>
            <a:ext cx="5212080" cy="2194560"/>
          </a:xfrm>
          <a:prstGeom prst="rect">
            <a:avLst/>
          </a:prstGeom>
          <a:solidFill>
            <a:srgbClr val="FFFFFF"/>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2011680"/>
            <a:ext cx="457200" cy="365760"/>
          </a:xfrm>
          <a:prstGeom prst="rect">
            <a:avLst/>
          </a:prstGeom>
          <a:noFill/>
        </p:spPr>
        <p:txBody>
          <a:bodyPr wrap="square">
            <a:spAutoFit/>
          </a:bodyPr>
          <a:lstStyle/>
          <a:p>
            <a:pPr algn="l">
              <a:defRPr sz="2800" b="1" i="0">
                <a:solidFill>
                  <a:srgbClr val="A84C6A"/>
                </a:solidFill>
                <a:latin typeface="Calibri"/>
              </a:defRPr>
            </a:pPr>
            <a:r>
              <a:t>2</a:t>
            </a:r>
          </a:p>
        </p:txBody>
      </p:sp>
      <p:sp>
        <p:nvSpPr>
          <p:cNvPr id="16" name="TextBox 15"/>
          <p:cNvSpPr txBox="1"/>
          <p:nvPr/>
        </p:nvSpPr>
        <p:spPr>
          <a:xfrm>
            <a:off x="6903720" y="2011680"/>
            <a:ext cx="4114800" cy="274320"/>
          </a:xfrm>
          <a:prstGeom prst="rect">
            <a:avLst/>
          </a:prstGeom>
          <a:noFill/>
        </p:spPr>
        <p:txBody>
          <a:bodyPr wrap="square">
            <a:spAutoFit/>
          </a:bodyPr>
          <a:lstStyle/>
          <a:p>
            <a:pPr algn="l">
              <a:defRPr sz="1600" b="1" i="0">
                <a:solidFill>
                  <a:srgbClr val="1A1F36"/>
                </a:solidFill>
                <a:latin typeface="Calibri"/>
              </a:defRPr>
            </a:pPr>
            <a:r>
              <a:t>Enterprise Data Infrastructure</a:t>
            </a:r>
          </a:p>
        </p:txBody>
      </p:sp>
      <p:sp>
        <p:nvSpPr>
          <p:cNvPr id="17" name="TextBox 16"/>
          <p:cNvSpPr txBox="1"/>
          <p:nvPr/>
        </p:nvSpPr>
        <p:spPr>
          <a:xfrm>
            <a:off x="6903720" y="2267712"/>
            <a:ext cx="4114800" cy="182880"/>
          </a:xfrm>
          <a:prstGeom prst="rect">
            <a:avLst/>
          </a:prstGeom>
          <a:noFill/>
        </p:spPr>
        <p:txBody>
          <a:bodyPr wrap="square">
            <a:spAutoFit/>
          </a:bodyPr>
          <a:lstStyle/>
          <a:p>
            <a:pPr algn="l">
              <a:defRPr sz="1000" b="0" i="0">
                <a:solidFill>
                  <a:srgbClr val="64748B"/>
                </a:solidFill>
                <a:latin typeface="Calibri"/>
              </a:defRPr>
            </a:pPr>
            <a:r>
              <a:t>Bloomberg Terminal Problem</a:t>
            </a:r>
          </a:p>
        </p:txBody>
      </p:sp>
      <p:sp>
        <p:nvSpPr>
          <p:cNvPr id="18" name="TextBox 17"/>
          <p:cNvSpPr txBox="1"/>
          <p:nvPr/>
        </p:nvSpPr>
        <p:spPr>
          <a:xfrm>
            <a:off x="6446520" y="2514600"/>
            <a:ext cx="4846320" cy="228600"/>
          </a:xfrm>
          <a:prstGeom prst="rect">
            <a:avLst/>
          </a:prstGeom>
          <a:noFill/>
        </p:spPr>
        <p:txBody>
          <a:bodyPr wrap="square">
            <a:spAutoFit/>
          </a:bodyPr>
          <a:lstStyle/>
          <a:p>
            <a:pPr algn="l">
              <a:defRPr sz="1000" b="0" i="0">
                <a:solidFill>
                  <a:srgbClr val="475569"/>
                </a:solidFill>
                <a:latin typeface="Calibri"/>
              </a:defRPr>
            </a:pPr>
            <a:r>
              <a:t>Turquoise ($95M) · Serif Health · FAIR Health</a:t>
            </a:r>
          </a:p>
        </p:txBody>
      </p:sp>
      <p:sp>
        <p:nvSpPr>
          <p:cNvPr id="19" name="TextBox 18"/>
          <p:cNvSpPr txBox="1"/>
          <p:nvPr/>
        </p:nvSpPr>
        <p:spPr>
          <a:xfrm>
            <a:off x="6446520" y="2788920"/>
            <a:ext cx="4846320" cy="777240"/>
          </a:xfrm>
          <a:prstGeom prst="rect">
            <a:avLst/>
          </a:prstGeom>
          <a:noFill/>
        </p:spPr>
        <p:txBody>
          <a:bodyPr wrap="square">
            <a:spAutoFit/>
          </a:bodyPr>
          <a:lstStyle/>
          <a:p>
            <a:pPr algn="l">
              <a:defRPr sz="1100" b="0" i="0">
                <a:solidFill>
                  <a:srgbClr val="475569"/>
                </a:solidFill>
                <a:latin typeface="Calibri"/>
              </a:defRPr>
            </a:pPr>
            <a:r>
              <a:t>Consumer layer would democratize enterprise intelligence. Turquoise's own docs say SSPs "aren't easily read by patients."</a:t>
            </a:r>
          </a:p>
        </p:txBody>
      </p:sp>
      <p:sp>
        <p:nvSpPr>
          <p:cNvPr id="20" name="Rectangle 19"/>
          <p:cNvSpPr/>
          <p:nvPr/>
        </p:nvSpPr>
        <p:spPr>
          <a:xfrm>
            <a:off x="6446520" y="3657600"/>
            <a:ext cx="2011680" cy="274320"/>
          </a:xfrm>
          <a:prstGeom prst="rect">
            <a:avLst/>
          </a:prstGeom>
          <a:solidFill>
            <a:srgbClr val="806B30"/>
          </a:solidFill>
          <a:ln w="12700">
            <a:solidFill>
              <a:srgbClr val="806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3657600"/>
            <a:ext cx="2011680" cy="274320"/>
          </a:xfrm>
          <a:prstGeom prst="rect">
            <a:avLst/>
          </a:prstGeom>
          <a:noFill/>
        </p:spPr>
        <p:txBody>
          <a:bodyPr wrap="square">
            <a:spAutoFit/>
          </a:bodyPr>
          <a:lstStyle/>
          <a:p>
            <a:pPr algn="ctr">
              <a:defRPr sz="900" b="1" i="0">
                <a:solidFill>
                  <a:srgbClr val="F0E0B0"/>
                </a:solidFill>
                <a:latin typeface="Calibri"/>
              </a:defRPr>
            </a:pPr>
            <a:r>
              <a:t>CLOSEST — WATCH</a:t>
            </a:r>
          </a:p>
        </p:txBody>
      </p:sp>
      <p:sp>
        <p:nvSpPr>
          <p:cNvPr id="22" name="Rectangle 21"/>
          <p:cNvSpPr/>
          <p:nvPr/>
        </p:nvSpPr>
        <p:spPr>
          <a:xfrm>
            <a:off x="822960" y="4389120"/>
            <a:ext cx="5212080" cy="2194560"/>
          </a:xfrm>
          <a:prstGeom prst="rect">
            <a:avLst/>
          </a:prstGeom>
          <a:solidFill>
            <a:srgbClr val="FFFFFF"/>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5840" y="4480560"/>
            <a:ext cx="457200" cy="365760"/>
          </a:xfrm>
          <a:prstGeom prst="rect">
            <a:avLst/>
          </a:prstGeom>
          <a:noFill/>
        </p:spPr>
        <p:txBody>
          <a:bodyPr wrap="square">
            <a:spAutoFit/>
          </a:bodyPr>
          <a:lstStyle/>
          <a:p>
            <a:pPr algn="l">
              <a:defRPr sz="2800" b="1" i="0">
                <a:solidFill>
                  <a:srgbClr val="A84C6A"/>
                </a:solidFill>
                <a:latin typeface="Calibri"/>
              </a:defRPr>
            </a:pPr>
            <a:r>
              <a:t>3</a:t>
            </a:r>
          </a:p>
        </p:txBody>
      </p:sp>
      <p:sp>
        <p:nvSpPr>
          <p:cNvPr id="24" name="TextBox 23"/>
          <p:cNvSpPr txBox="1"/>
          <p:nvPr/>
        </p:nvSpPr>
        <p:spPr>
          <a:xfrm>
            <a:off x="1463040" y="4480560"/>
            <a:ext cx="4114800" cy="274320"/>
          </a:xfrm>
          <a:prstGeom prst="rect">
            <a:avLst/>
          </a:prstGeom>
          <a:noFill/>
        </p:spPr>
        <p:txBody>
          <a:bodyPr wrap="square">
            <a:spAutoFit/>
          </a:bodyPr>
          <a:lstStyle/>
          <a:p>
            <a:pPr algn="l">
              <a:defRPr sz="1600" b="1" i="0">
                <a:solidFill>
                  <a:srgbClr val="1A1F36"/>
                </a:solidFill>
                <a:latin typeface="Calibri"/>
              </a:defRPr>
            </a:pPr>
            <a:r>
              <a:t>Insurer Cost Estimators</a:t>
            </a:r>
          </a:p>
        </p:txBody>
      </p:sp>
      <p:sp>
        <p:nvSpPr>
          <p:cNvPr id="25" name="TextBox 24"/>
          <p:cNvSpPr txBox="1"/>
          <p:nvPr/>
        </p:nvSpPr>
        <p:spPr>
          <a:xfrm>
            <a:off x="1463040" y="4736592"/>
            <a:ext cx="4114800" cy="182880"/>
          </a:xfrm>
          <a:prstGeom prst="rect">
            <a:avLst/>
          </a:prstGeom>
          <a:noFill/>
        </p:spPr>
        <p:txBody>
          <a:bodyPr wrap="square">
            <a:spAutoFit/>
          </a:bodyPr>
          <a:lstStyle/>
          <a:p>
            <a:pPr algn="l">
              <a:defRPr sz="1000" b="0" i="0">
                <a:solidFill>
                  <a:srgbClr val="64748B"/>
                </a:solidFill>
                <a:latin typeface="Calibri"/>
              </a:defRPr>
            </a:pPr>
            <a:r>
              <a:t>Walled Garden</a:t>
            </a:r>
          </a:p>
        </p:txBody>
      </p:sp>
      <p:sp>
        <p:nvSpPr>
          <p:cNvPr id="26" name="TextBox 25"/>
          <p:cNvSpPr txBox="1"/>
          <p:nvPr/>
        </p:nvSpPr>
        <p:spPr>
          <a:xfrm>
            <a:off x="1005840" y="4983480"/>
            <a:ext cx="4846320" cy="228600"/>
          </a:xfrm>
          <a:prstGeom prst="rect">
            <a:avLst/>
          </a:prstGeom>
          <a:noFill/>
        </p:spPr>
        <p:txBody>
          <a:bodyPr wrap="square">
            <a:spAutoFit/>
          </a:bodyPr>
          <a:lstStyle/>
          <a:p>
            <a:pPr algn="l">
              <a:defRPr sz="1000" b="0" i="0">
                <a:solidFill>
                  <a:srgbClr val="475569"/>
                </a:solidFill>
                <a:latin typeface="Calibri"/>
              </a:defRPr>
            </a:pPr>
            <a:r>
              <a:t>UHC "Avery" · Cigna · Aetna · BCBS</a:t>
            </a:r>
          </a:p>
        </p:txBody>
      </p:sp>
      <p:sp>
        <p:nvSpPr>
          <p:cNvPr id="27" name="TextBox 26"/>
          <p:cNvSpPr txBox="1"/>
          <p:nvPr/>
        </p:nvSpPr>
        <p:spPr>
          <a:xfrm>
            <a:off x="1005840" y="5257800"/>
            <a:ext cx="4846320" cy="777240"/>
          </a:xfrm>
          <a:prstGeom prst="rect">
            <a:avLst/>
          </a:prstGeom>
          <a:noFill/>
        </p:spPr>
        <p:txBody>
          <a:bodyPr wrap="square">
            <a:spAutoFit/>
          </a:bodyPr>
          <a:lstStyle/>
          <a:p>
            <a:pPr algn="l">
              <a:defRPr sz="1100" b="0" i="0">
                <a:solidFill>
                  <a:srgbClr val="475569"/>
                </a:solidFill>
                <a:latin typeface="Calibri"/>
              </a:defRPr>
            </a:pPr>
            <a:r>
              <a:t>Will never show competitor rates. Locked behind login walls. One opaque number, no decomposition, no sources.</a:t>
            </a:r>
          </a:p>
        </p:txBody>
      </p:sp>
      <p:sp>
        <p:nvSpPr>
          <p:cNvPr id="28" name="Rectangle 27"/>
          <p:cNvSpPr/>
          <p:nvPr/>
        </p:nvSpPr>
        <p:spPr>
          <a:xfrm>
            <a:off x="1005840" y="6126480"/>
            <a:ext cx="2011680" cy="274320"/>
          </a:xfrm>
          <a:prstGeom prst="rect">
            <a:avLst/>
          </a:prstGeom>
          <a:solidFill>
            <a:srgbClr val="2A5A7A"/>
          </a:solidFill>
          <a:ln w="12700">
            <a:solidFill>
              <a:srgbClr val="2A5A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5840" y="6126480"/>
            <a:ext cx="2011680" cy="274320"/>
          </a:xfrm>
          <a:prstGeom prst="rect">
            <a:avLst/>
          </a:prstGeom>
          <a:noFill/>
        </p:spPr>
        <p:txBody>
          <a:bodyPr wrap="square">
            <a:spAutoFit/>
          </a:bodyPr>
          <a:lstStyle/>
          <a:p>
            <a:pPr algn="ctr">
              <a:defRPr sz="900" b="1" i="0">
                <a:solidFill>
                  <a:srgbClr val="B0DAF0"/>
                </a:solidFill>
                <a:latin typeface="Calibri"/>
              </a:defRPr>
            </a:pPr>
            <a:r>
              <a:t>VALIDATES CONCEPT</a:t>
            </a:r>
          </a:p>
        </p:txBody>
      </p:sp>
      <p:sp>
        <p:nvSpPr>
          <p:cNvPr id="30" name="Rectangle 29"/>
          <p:cNvSpPr/>
          <p:nvPr/>
        </p:nvSpPr>
        <p:spPr>
          <a:xfrm>
            <a:off x="6263640" y="4389120"/>
            <a:ext cx="5212080" cy="2194560"/>
          </a:xfrm>
          <a:prstGeom prst="rect">
            <a:avLst/>
          </a:prstGeom>
          <a:solidFill>
            <a:srgbClr val="FFFFFF"/>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46520" y="4480560"/>
            <a:ext cx="457200" cy="365760"/>
          </a:xfrm>
          <a:prstGeom prst="rect">
            <a:avLst/>
          </a:prstGeom>
          <a:noFill/>
        </p:spPr>
        <p:txBody>
          <a:bodyPr wrap="square">
            <a:spAutoFit/>
          </a:bodyPr>
          <a:lstStyle/>
          <a:p>
            <a:pPr algn="l">
              <a:defRPr sz="2800" b="1" i="0">
                <a:solidFill>
                  <a:srgbClr val="A84C6A"/>
                </a:solidFill>
                <a:latin typeface="Calibri"/>
              </a:defRPr>
            </a:pPr>
            <a:r>
              <a:t>4</a:t>
            </a:r>
          </a:p>
        </p:txBody>
      </p:sp>
      <p:sp>
        <p:nvSpPr>
          <p:cNvPr id="32" name="TextBox 31"/>
          <p:cNvSpPr txBox="1"/>
          <p:nvPr/>
        </p:nvSpPr>
        <p:spPr>
          <a:xfrm>
            <a:off x="6903720" y="4480560"/>
            <a:ext cx="4114800" cy="274320"/>
          </a:xfrm>
          <a:prstGeom prst="rect">
            <a:avLst/>
          </a:prstGeom>
          <a:noFill/>
        </p:spPr>
        <p:txBody>
          <a:bodyPr wrap="square">
            <a:spAutoFit/>
          </a:bodyPr>
          <a:lstStyle/>
          <a:p>
            <a:pPr algn="l">
              <a:defRPr sz="1600" b="1" i="0">
                <a:solidFill>
                  <a:srgbClr val="1A1F36"/>
                </a:solidFill>
                <a:latin typeface="Calibri"/>
              </a:defRPr>
            </a:pPr>
            <a:r>
              <a:t>Cash-Pay Marketplaces</a:t>
            </a:r>
          </a:p>
        </p:txBody>
      </p:sp>
      <p:sp>
        <p:nvSpPr>
          <p:cNvPr id="33" name="TextBox 32"/>
          <p:cNvSpPr txBox="1"/>
          <p:nvPr/>
        </p:nvSpPr>
        <p:spPr>
          <a:xfrm>
            <a:off x="6903720" y="4736592"/>
            <a:ext cx="4114800" cy="182880"/>
          </a:xfrm>
          <a:prstGeom prst="rect">
            <a:avLst/>
          </a:prstGeom>
          <a:noFill/>
        </p:spPr>
        <p:txBody>
          <a:bodyPr wrap="square">
            <a:spAutoFit/>
          </a:bodyPr>
          <a:lstStyle/>
          <a:p>
            <a:pPr algn="l">
              <a:defRPr sz="1000" b="0" i="0">
                <a:solidFill>
                  <a:srgbClr val="64748B"/>
                </a:solidFill>
                <a:latin typeface="Calibri"/>
              </a:defRPr>
            </a:pPr>
            <a:r>
              <a:t>Adjacent, Not Competing</a:t>
            </a:r>
          </a:p>
        </p:txBody>
      </p:sp>
      <p:sp>
        <p:nvSpPr>
          <p:cNvPr id="34" name="TextBox 33"/>
          <p:cNvSpPr txBox="1"/>
          <p:nvPr/>
        </p:nvSpPr>
        <p:spPr>
          <a:xfrm>
            <a:off x="6446520" y="4983480"/>
            <a:ext cx="4846320" cy="228600"/>
          </a:xfrm>
          <a:prstGeom prst="rect">
            <a:avLst/>
          </a:prstGeom>
          <a:noFill/>
        </p:spPr>
        <p:txBody>
          <a:bodyPr wrap="square">
            <a:spAutoFit/>
          </a:bodyPr>
          <a:lstStyle/>
          <a:p>
            <a:pPr algn="l">
              <a:defRPr sz="1000" b="0" i="0">
                <a:solidFill>
                  <a:srgbClr val="475569"/>
                </a:solidFill>
                <a:latin typeface="Calibri"/>
              </a:defRPr>
            </a:pPr>
            <a:r>
              <a:t>GoodRx ($797M rev) · Sesame ($75M) · MDsave · Sidecar ($426M)</a:t>
            </a:r>
          </a:p>
        </p:txBody>
      </p:sp>
      <p:sp>
        <p:nvSpPr>
          <p:cNvPr id="35" name="TextBox 34"/>
          <p:cNvSpPr txBox="1"/>
          <p:nvPr/>
        </p:nvSpPr>
        <p:spPr>
          <a:xfrm>
            <a:off x="6446520" y="5257800"/>
            <a:ext cx="4846320" cy="777240"/>
          </a:xfrm>
          <a:prstGeom prst="rect">
            <a:avLst/>
          </a:prstGeom>
          <a:noFill/>
        </p:spPr>
        <p:txBody>
          <a:bodyPr wrap="square">
            <a:spAutoFit/>
          </a:bodyPr>
          <a:lstStyle/>
          <a:p>
            <a:pPr algn="l">
              <a:defRPr sz="1100" b="0" i="0">
                <a:solidFill>
                  <a:srgbClr val="475569"/>
                </a:solidFill>
                <a:latin typeface="Calibri"/>
              </a:defRPr>
            </a:pPr>
            <a:r>
              <a:t>They bypass insurance. CareCost translates it. GoodRx stalling (0.6% YoY). MDsave acquired. Different market.</a:t>
            </a:r>
          </a:p>
        </p:txBody>
      </p:sp>
      <p:sp>
        <p:nvSpPr>
          <p:cNvPr id="36" name="Rectangle 35"/>
          <p:cNvSpPr/>
          <p:nvPr/>
        </p:nvSpPr>
        <p:spPr>
          <a:xfrm>
            <a:off x="6446520" y="6126480"/>
            <a:ext cx="2011680" cy="274320"/>
          </a:xfrm>
          <a:prstGeom prst="rect">
            <a:avLst/>
          </a:prstGeom>
          <a:solidFill>
            <a:srgbClr val="206B40"/>
          </a:solidFill>
          <a:ln w="12700">
            <a:solidFill>
              <a:srgbClr val="206B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46520" y="6126480"/>
            <a:ext cx="2011680" cy="274320"/>
          </a:xfrm>
          <a:prstGeom prst="rect">
            <a:avLst/>
          </a:prstGeom>
          <a:noFill/>
        </p:spPr>
        <p:txBody>
          <a:bodyPr wrap="square">
            <a:spAutoFit/>
          </a:bodyPr>
          <a:lstStyle/>
          <a:p>
            <a:pPr algn="ctr">
              <a:defRPr sz="900" b="1" i="0">
                <a:solidFill>
                  <a:srgbClr val="B0E0C8"/>
                </a:solidFill>
                <a:latin typeface="Calibri"/>
              </a:defRPr>
            </a:pPr>
            <a:r>
              <a:t>PARTNER OPPORTUNITY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AF8"/>
        </a:solidFill>
        <a:effectLst/>
      </p:bgPr>
    </p:bg>
    <p:spTree>
      <p:nvGrpSpPr>
        <p:cNvPr id="1" name=""/>
        <p:cNvGrpSpPr/>
        <p:nvPr/>
      </p:nvGrpSpPr>
      <p:grpSpPr/>
      <p:sp>
        <p:nvSpPr>
          <p:cNvPr id="2" name="Rectangle 1"/>
          <p:cNvSpPr/>
          <p:nvPr/>
        </p:nvSpPr>
        <p:spPr>
          <a:xfrm>
            <a:off x="0" y="0"/>
            <a:ext cx="54864" cy="6858000"/>
          </a:xfrm>
          <a:prstGeom prst="rect">
            <a:avLst/>
          </a:prstGeom>
          <a:solidFill>
            <a:srgbClr val="A84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3657600" cy="274320"/>
          </a:xfrm>
          <a:prstGeom prst="rect">
            <a:avLst/>
          </a:prstGeom>
          <a:noFill/>
        </p:spPr>
        <p:txBody>
          <a:bodyPr wrap="square">
            <a:spAutoFit/>
          </a:bodyPr>
          <a:lstStyle/>
          <a:p>
            <a:pPr algn="l">
              <a:defRPr sz="1100" b="1" i="0">
                <a:solidFill>
                  <a:srgbClr val="A84C6A"/>
                </a:solidFill>
                <a:latin typeface="Calibri"/>
              </a:defRPr>
            </a:pPr>
            <a:r>
              <a:t>COMPETITIVE LANDSCAPE</a:t>
            </a:r>
          </a:p>
        </p:txBody>
      </p:sp>
      <p:sp>
        <p:nvSpPr>
          <p:cNvPr id="4" name="TextBox 3"/>
          <p:cNvSpPr txBox="1"/>
          <p:nvPr/>
        </p:nvSpPr>
        <p:spPr>
          <a:xfrm>
            <a:off x="822960" y="914400"/>
            <a:ext cx="10058400" cy="457200"/>
          </a:xfrm>
          <a:prstGeom prst="rect">
            <a:avLst/>
          </a:prstGeom>
          <a:noFill/>
        </p:spPr>
        <p:txBody>
          <a:bodyPr wrap="square">
            <a:spAutoFit/>
          </a:bodyPr>
          <a:lstStyle/>
          <a:p>
            <a:pPr algn="l">
              <a:defRPr sz="2800" b="1" i="0">
                <a:solidFill>
                  <a:srgbClr val="1A1F36"/>
                </a:solidFill>
                <a:latin typeface="Calibri"/>
              </a:defRPr>
            </a:pPr>
            <a:r>
              <a:t>Eight categories. Eight structural locks.</a:t>
            </a:r>
          </a:p>
        </p:txBody>
      </p:sp>
      <p:sp>
        <p:nvSpPr>
          <p:cNvPr id="5" name="TextBox 4"/>
          <p:cNvSpPr txBox="1"/>
          <p:nvPr/>
        </p:nvSpPr>
        <p:spPr>
          <a:xfrm>
            <a:off x="822960" y="1234440"/>
            <a:ext cx="1828800" cy="228600"/>
          </a:xfrm>
          <a:prstGeom prst="rect">
            <a:avLst/>
          </a:prstGeom>
          <a:noFill/>
        </p:spPr>
        <p:txBody>
          <a:bodyPr wrap="square">
            <a:spAutoFit/>
          </a:bodyPr>
          <a:lstStyle/>
          <a:p>
            <a:pPr algn="l">
              <a:defRPr sz="1200" b="0" i="0">
                <a:solidFill>
                  <a:srgbClr val="64748B"/>
                </a:solidFill>
                <a:latin typeface="Calibri"/>
              </a:defRPr>
            </a:pPr>
            <a:r>
              <a:t>Part 2</a:t>
            </a:r>
          </a:p>
        </p:txBody>
      </p:sp>
      <p:sp>
        <p:nvSpPr>
          <p:cNvPr id="6" name="TextBox 5"/>
          <p:cNvSpPr txBox="1"/>
          <p:nvPr/>
        </p:nvSpPr>
        <p:spPr>
          <a:xfrm>
            <a:off x="822960" y="1463040"/>
            <a:ext cx="10058400" cy="274320"/>
          </a:xfrm>
          <a:prstGeom prst="rect">
            <a:avLst/>
          </a:prstGeom>
          <a:noFill/>
        </p:spPr>
        <p:txBody>
          <a:bodyPr wrap="square">
            <a:spAutoFit/>
          </a:bodyPr>
          <a:lstStyle/>
          <a:p>
            <a:pPr algn="l">
              <a:defRPr sz="1600" b="0" i="0">
                <a:solidFill>
                  <a:srgbClr val="475569"/>
                </a:solidFill>
                <a:latin typeface="Calibri"/>
              </a:defRPr>
            </a:pPr>
            <a:r>
              <a:t>Why $3.7B in combined funding can't follow us into the empty quadrant.</a:t>
            </a:r>
          </a:p>
        </p:txBody>
      </p:sp>
      <p:sp>
        <p:nvSpPr>
          <p:cNvPr id="7" name="Rectangle 6"/>
          <p:cNvSpPr/>
          <p:nvPr/>
        </p:nvSpPr>
        <p:spPr>
          <a:xfrm>
            <a:off x="822960" y="2011680"/>
            <a:ext cx="5212080" cy="2194560"/>
          </a:xfrm>
          <a:prstGeom prst="rect">
            <a:avLst/>
          </a:prstGeom>
          <a:solidFill>
            <a:srgbClr val="FFFFFF"/>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103120"/>
            <a:ext cx="457200" cy="365760"/>
          </a:xfrm>
          <a:prstGeom prst="rect">
            <a:avLst/>
          </a:prstGeom>
          <a:noFill/>
        </p:spPr>
        <p:txBody>
          <a:bodyPr wrap="square">
            <a:spAutoFit/>
          </a:bodyPr>
          <a:lstStyle/>
          <a:p>
            <a:pPr algn="l">
              <a:defRPr sz="2800" b="1" i="0">
                <a:solidFill>
                  <a:srgbClr val="A84C6A"/>
                </a:solidFill>
                <a:latin typeface="Calibri"/>
              </a:defRPr>
            </a:pPr>
            <a:r>
              <a:t>5</a:t>
            </a:r>
          </a:p>
        </p:txBody>
      </p:sp>
      <p:sp>
        <p:nvSpPr>
          <p:cNvPr id="9" name="TextBox 8"/>
          <p:cNvSpPr txBox="1"/>
          <p:nvPr/>
        </p:nvSpPr>
        <p:spPr>
          <a:xfrm>
            <a:off x="1463040" y="2103120"/>
            <a:ext cx="4114800" cy="274320"/>
          </a:xfrm>
          <a:prstGeom prst="rect">
            <a:avLst/>
          </a:prstGeom>
          <a:noFill/>
        </p:spPr>
        <p:txBody>
          <a:bodyPr wrap="square">
            <a:spAutoFit/>
          </a:bodyPr>
          <a:lstStyle/>
          <a:p>
            <a:pPr algn="l">
              <a:defRPr sz="1600" b="1" i="0">
                <a:solidFill>
                  <a:srgbClr val="1A1F36"/>
                </a:solidFill>
                <a:latin typeface="Calibri"/>
              </a:defRPr>
            </a:pPr>
            <a:r>
              <a:t>AI Symptom Checkers</a:t>
            </a:r>
          </a:p>
        </p:txBody>
      </p:sp>
      <p:sp>
        <p:nvSpPr>
          <p:cNvPr id="10" name="TextBox 9"/>
          <p:cNvSpPr txBox="1"/>
          <p:nvPr/>
        </p:nvSpPr>
        <p:spPr>
          <a:xfrm>
            <a:off x="1463040" y="2359152"/>
            <a:ext cx="4114800" cy="182880"/>
          </a:xfrm>
          <a:prstGeom prst="rect">
            <a:avLst/>
          </a:prstGeom>
          <a:noFill/>
        </p:spPr>
        <p:txBody>
          <a:bodyPr wrap="square">
            <a:spAutoFit/>
          </a:bodyPr>
          <a:lstStyle/>
          <a:p>
            <a:pPr algn="l">
              <a:defRPr sz="1000" b="0" i="0">
                <a:solidFill>
                  <a:srgbClr val="64748B"/>
                </a:solidFill>
                <a:latin typeface="Calibri"/>
              </a:defRPr>
            </a:pPr>
            <a:r>
              <a:t>Track 1 Without Track 2</a:t>
            </a:r>
          </a:p>
        </p:txBody>
      </p:sp>
      <p:sp>
        <p:nvSpPr>
          <p:cNvPr id="11" name="TextBox 10"/>
          <p:cNvSpPr txBox="1"/>
          <p:nvPr/>
        </p:nvSpPr>
        <p:spPr>
          <a:xfrm>
            <a:off x="1005840" y="2606040"/>
            <a:ext cx="4846320" cy="228600"/>
          </a:xfrm>
          <a:prstGeom prst="rect">
            <a:avLst/>
          </a:prstGeom>
          <a:noFill/>
        </p:spPr>
        <p:txBody>
          <a:bodyPr wrap="square">
            <a:spAutoFit/>
          </a:bodyPr>
          <a:lstStyle/>
          <a:p>
            <a:pPr algn="l">
              <a:defRPr sz="1000" b="0" i="0">
                <a:solidFill>
                  <a:srgbClr val="475569"/>
                </a:solidFill>
                <a:latin typeface="Calibri"/>
              </a:defRPr>
            </a:pPr>
            <a:r>
              <a:t>Ada Health ($167M) · K Health ($441M) · Infermedica · Buoy (dying)</a:t>
            </a:r>
          </a:p>
        </p:txBody>
      </p:sp>
      <p:sp>
        <p:nvSpPr>
          <p:cNvPr id="12" name="TextBox 11"/>
          <p:cNvSpPr txBox="1"/>
          <p:nvPr/>
        </p:nvSpPr>
        <p:spPr>
          <a:xfrm>
            <a:off x="1005840" y="2880360"/>
            <a:ext cx="4846320" cy="777240"/>
          </a:xfrm>
          <a:prstGeom prst="rect">
            <a:avLst/>
          </a:prstGeom>
          <a:noFill/>
        </p:spPr>
        <p:txBody>
          <a:bodyPr wrap="square">
            <a:spAutoFit/>
          </a:bodyPr>
          <a:lstStyle/>
          <a:p>
            <a:pPr algn="l">
              <a:defRPr sz="1100" b="0" i="0">
                <a:solidFill>
                  <a:srgbClr val="475569"/>
                </a:solidFill>
                <a:latin typeface="Calibri"/>
              </a:defRPr>
            </a:pPr>
            <a:r>
              <a:t>Struggling to survive — Babylon bankrupt, Buoy down to 28 employees. Triage without cost is a dead end. Adding cost multiplies liability.</a:t>
            </a:r>
          </a:p>
        </p:txBody>
      </p:sp>
      <p:sp>
        <p:nvSpPr>
          <p:cNvPr id="13" name="Rectangle 12"/>
          <p:cNvSpPr/>
          <p:nvPr/>
        </p:nvSpPr>
        <p:spPr>
          <a:xfrm>
            <a:off x="1005840" y="3749040"/>
            <a:ext cx="2011680" cy="274320"/>
          </a:xfrm>
          <a:prstGeom prst="rect">
            <a:avLst/>
          </a:prstGeom>
          <a:solidFill>
            <a:srgbClr val="4A2A6A"/>
          </a:solidFill>
          <a:ln w="12700">
            <a:solidFill>
              <a:srgbClr val="4A2A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749040"/>
            <a:ext cx="2011680" cy="274320"/>
          </a:xfrm>
          <a:prstGeom prst="rect">
            <a:avLst/>
          </a:prstGeom>
          <a:noFill/>
        </p:spPr>
        <p:txBody>
          <a:bodyPr wrap="square">
            <a:spAutoFit/>
          </a:bodyPr>
          <a:lstStyle/>
          <a:p>
            <a:pPr algn="ctr">
              <a:defRPr sz="900" b="1" i="0">
                <a:solidFill>
                  <a:srgbClr val="DAB0F0"/>
                </a:solidFill>
                <a:latin typeface="Calibri"/>
              </a:defRPr>
            </a:pPr>
            <a:r>
              <a:t>FUTURE INTEGRATION</a:t>
            </a:r>
          </a:p>
        </p:txBody>
      </p:sp>
      <p:sp>
        <p:nvSpPr>
          <p:cNvPr id="15" name="Rectangle 14"/>
          <p:cNvSpPr/>
          <p:nvPr/>
        </p:nvSpPr>
        <p:spPr>
          <a:xfrm>
            <a:off x="6263640" y="2011680"/>
            <a:ext cx="5212080" cy="2194560"/>
          </a:xfrm>
          <a:prstGeom prst="rect">
            <a:avLst/>
          </a:prstGeom>
          <a:solidFill>
            <a:srgbClr val="FFFFFF"/>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2103120"/>
            <a:ext cx="457200" cy="365760"/>
          </a:xfrm>
          <a:prstGeom prst="rect">
            <a:avLst/>
          </a:prstGeom>
          <a:noFill/>
        </p:spPr>
        <p:txBody>
          <a:bodyPr wrap="square">
            <a:spAutoFit/>
          </a:bodyPr>
          <a:lstStyle/>
          <a:p>
            <a:pPr algn="l">
              <a:defRPr sz="2800" b="1" i="0">
                <a:solidFill>
                  <a:srgbClr val="A84C6A"/>
                </a:solidFill>
                <a:latin typeface="Calibri"/>
              </a:defRPr>
            </a:pPr>
            <a:r>
              <a:t>6</a:t>
            </a:r>
          </a:p>
        </p:txBody>
      </p:sp>
      <p:sp>
        <p:nvSpPr>
          <p:cNvPr id="17" name="TextBox 16"/>
          <p:cNvSpPr txBox="1"/>
          <p:nvPr/>
        </p:nvSpPr>
        <p:spPr>
          <a:xfrm>
            <a:off x="6903720" y="2103120"/>
            <a:ext cx="4114800" cy="274320"/>
          </a:xfrm>
          <a:prstGeom prst="rect">
            <a:avLst/>
          </a:prstGeom>
          <a:noFill/>
        </p:spPr>
        <p:txBody>
          <a:bodyPr wrap="square">
            <a:spAutoFit/>
          </a:bodyPr>
          <a:lstStyle/>
          <a:p>
            <a:pPr algn="l">
              <a:defRPr sz="1600" b="1" i="0">
                <a:solidFill>
                  <a:srgbClr val="1A1F36"/>
                </a:solidFill>
                <a:latin typeface="Calibri"/>
              </a:defRPr>
            </a:pPr>
            <a:r>
              <a:t>Benefits &amp; AI Platforms</a:t>
            </a:r>
          </a:p>
        </p:txBody>
      </p:sp>
      <p:sp>
        <p:nvSpPr>
          <p:cNvPr id="18" name="TextBox 17"/>
          <p:cNvSpPr txBox="1"/>
          <p:nvPr/>
        </p:nvSpPr>
        <p:spPr>
          <a:xfrm>
            <a:off x="6903720" y="2359152"/>
            <a:ext cx="4114800" cy="182880"/>
          </a:xfrm>
          <a:prstGeom prst="rect">
            <a:avLst/>
          </a:prstGeom>
          <a:noFill/>
        </p:spPr>
        <p:txBody>
          <a:bodyPr wrap="square">
            <a:spAutoFit/>
          </a:bodyPr>
          <a:lstStyle/>
          <a:p>
            <a:pPr algn="l">
              <a:defRPr sz="1000" b="0" i="0">
                <a:solidFill>
                  <a:srgbClr val="64748B"/>
                </a:solidFill>
                <a:latin typeface="Calibri"/>
              </a:defRPr>
            </a:pPr>
            <a:r>
              <a:t>Actively Harmful</a:t>
            </a:r>
          </a:p>
        </p:txBody>
      </p:sp>
      <p:sp>
        <p:nvSpPr>
          <p:cNvPr id="19" name="TextBox 18"/>
          <p:cNvSpPr txBox="1"/>
          <p:nvPr/>
        </p:nvSpPr>
        <p:spPr>
          <a:xfrm>
            <a:off x="6446520" y="2606040"/>
            <a:ext cx="4846320" cy="228600"/>
          </a:xfrm>
          <a:prstGeom prst="rect">
            <a:avLst/>
          </a:prstGeom>
          <a:noFill/>
        </p:spPr>
        <p:txBody>
          <a:bodyPr wrap="square">
            <a:spAutoFit/>
          </a:bodyPr>
          <a:lstStyle/>
          <a:p>
            <a:pPr algn="l">
              <a:defRPr sz="1000" b="0" i="0">
                <a:solidFill>
                  <a:srgbClr val="475569"/>
                </a:solidFill>
                <a:latin typeface="Calibri"/>
              </a:defRPr>
            </a:pPr>
            <a:r>
              <a:t>Nayya · Healthee · SAVVI/Benefitfocus</a:t>
            </a:r>
          </a:p>
        </p:txBody>
      </p:sp>
      <p:sp>
        <p:nvSpPr>
          <p:cNvPr id="20" name="TextBox 19"/>
          <p:cNvSpPr txBox="1"/>
          <p:nvPr/>
        </p:nvSpPr>
        <p:spPr>
          <a:xfrm>
            <a:off x="6446520" y="2880360"/>
            <a:ext cx="4846320" cy="777240"/>
          </a:xfrm>
          <a:prstGeom prst="rect">
            <a:avLst/>
          </a:prstGeom>
          <a:noFill/>
        </p:spPr>
        <p:txBody>
          <a:bodyPr wrap="square">
            <a:spAutoFit/>
          </a:bodyPr>
          <a:lstStyle/>
          <a:p>
            <a:pPr algn="l">
              <a:defRPr sz="1100" b="0" i="0">
                <a:solidFill>
                  <a:srgbClr val="475569"/>
                </a:solidFill>
                <a:latin typeface="Calibri"/>
              </a:defRPr>
            </a:pPr>
            <a:r>
              <a:t>Healthee drove 20% increase in HDHP adoption. SAVVI reports 70% HDHP election as success. They create the problem CareCost solves.</a:t>
            </a:r>
          </a:p>
        </p:txBody>
      </p:sp>
      <p:sp>
        <p:nvSpPr>
          <p:cNvPr id="21" name="Rectangle 20"/>
          <p:cNvSpPr/>
          <p:nvPr/>
        </p:nvSpPr>
        <p:spPr>
          <a:xfrm>
            <a:off x="6446520" y="3749040"/>
            <a:ext cx="2011680" cy="274320"/>
          </a:xfrm>
          <a:prstGeom prst="rect">
            <a:avLst/>
          </a:prstGeom>
          <a:solidFill>
            <a:srgbClr val="602035"/>
          </a:solidFill>
          <a:ln w="12700">
            <a:solidFill>
              <a:srgbClr val="6020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3749040"/>
            <a:ext cx="2011680" cy="274320"/>
          </a:xfrm>
          <a:prstGeom prst="rect">
            <a:avLst/>
          </a:prstGeom>
          <a:noFill/>
        </p:spPr>
        <p:txBody>
          <a:bodyPr wrap="square">
            <a:spAutoFit/>
          </a:bodyPr>
          <a:lstStyle/>
          <a:p>
            <a:pPr algn="ctr">
              <a:defRPr sz="900" b="1" i="0">
                <a:solidFill>
                  <a:srgbClr val="F0C0D0"/>
                </a:solidFill>
                <a:latin typeface="Calibri"/>
              </a:defRPr>
            </a:pPr>
            <a:r>
              <a:t>ADVERSARY</a:t>
            </a:r>
          </a:p>
        </p:txBody>
      </p:sp>
      <p:sp>
        <p:nvSpPr>
          <p:cNvPr id="23" name="Rectangle 22"/>
          <p:cNvSpPr/>
          <p:nvPr/>
        </p:nvSpPr>
        <p:spPr>
          <a:xfrm>
            <a:off x="822960" y="4480560"/>
            <a:ext cx="5212080" cy="2194560"/>
          </a:xfrm>
          <a:prstGeom prst="rect">
            <a:avLst/>
          </a:prstGeom>
          <a:solidFill>
            <a:srgbClr val="FFFFFF"/>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4572000"/>
            <a:ext cx="457200" cy="365760"/>
          </a:xfrm>
          <a:prstGeom prst="rect">
            <a:avLst/>
          </a:prstGeom>
          <a:noFill/>
        </p:spPr>
        <p:txBody>
          <a:bodyPr wrap="square">
            <a:spAutoFit/>
          </a:bodyPr>
          <a:lstStyle/>
          <a:p>
            <a:pPr algn="l">
              <a:defRPr sz="2800" b="1" i="0">
                <a:solidFill>
                  <a:srgbClr val="A84C6A"/>
                </a:solidFill>
                <a:latin typeface="Calibri"/>
              </a:defRPr>
            </a:pPr>
            <a:r>
              <a:t>7</a:t>
            </a:r>
          </a:p>
        </p:txBody>
      </p:sp>
      <p:sp>
        <p:nvSpPr>
          <p:cNvPr id="25" name="TextBox 24"/>
          <p:cNvSpPr txBox="1"/>
          <p:nvPr/>
        </p:nvSpPr>
        <p:spPr>
          <a:xfrm>
            <a:off x="1463040" y="4572000"/>
            <a:ext cx="4114800" cy="274320"/>
          </a:xfrm>
          <a:prstGeom prst="rect">
            <a:avLst/>
          </a:prstGeom>
          <a:noFill/>
        </p:spPr>
        <p:txBody>
          <a:bodyPr wrap="square">
            <a:spAutoFit/>
          </a:bodyPr>
          <a:lstStyle/>
          <a:p>
            <a:pPr algn="l">
              <a:defRPr sz="1600" b="1" i="0">
                <a:solidFill>
                  <a:srgbClr val="1A1F36"/>
                </a:solidFill>
                <a:latin typeface="Calibri"/>
              </a:defRPr>
            </a:pPr>
            <a:r>
              <a:t>Provider-Side Cost Tools</a:t>
            </a:r>
          </a:p>
        </p:txBody>
      </p:sp>
      <p:sp>
        <p:nvSpPr>
          <p:cNvPr id="26" name="TextBox 25"/>
          <p:cNvSpPr txBox="1"/>
          <p:nvPr/>
        </p:nvSpPr>
        <p:spPr>
          <a:xfrm>
            <a:off x="1463040" y="4828032"/>
            <a:ext cx="4114800" cy="182880"/>
          </a:xfrm>
          <a:prstGeom prst="rect">
            <a:avLst/>
          </a:prstGeom>
          <a:noFill/>
        </p:spPr>
        <p:txBody>
          <a:bodyPr wrap="square">
            <a:spAutoFit/>
          </a:bodyPr>
          <a:lstStyle/>
          <a:p>
            <a:pPr algn="l">
              <a:defRPr sz="1000" b="0" i="0">
                <a:solidFill>
                  <a:srgbClr val="64748B"/>
                </a:solidFill>
                <a:latin typeface="Calibri"/>
              </a:defRPr>
            </a:pPr>
            <a:r>
              <a:t>B2B Only</a:t>
            </a:r>
          </a:p>
        </p:txBody>
      </p:sp>
      <p:sp>
        <p:nvSpPr>
          <p:cNvPr id="27" name="TextBox 26"/>
          <p:cNvSpPr txBox="1"/>
          <p:nvPr/>
        </p:nvSpPr>
        <p:spPr>
          <a:xfrm>
            <a:off x="1005840" y="5074920"/>
            <a:ext cx="4846320" cy="228600"/>
          </a:xfrm>
          <a:prstGeom prst="rect">
            <a:avLst/>
          </a:prstGeom>
          <a:noFill/>
        </p:spPr>
        <p:txBody>
          <a:bodyPr wrap="square">
            <a:spAutoFit/>
          </a:bodyPr>
          <a:lstStyle/>
          <a:p>
            <a:pPr algn="l">
              <a:defRPr sz="1000" b="0" i="0">
                <a:solidFill>
                  <a:srgbClr val="475569"/>
                </a:solidFill>
                <a:latin typeface="Calibri"/>
              </a:defRPr>
            </a:pPr>
            <a:r>
              <a:t>MD Clarity · Rivet Health · Serif Health (300+ clients)</a:t>
            </a:r>
          </a:p>
        </p:txBody>
      </p:sp>
      <p:sp>
        <p:nvSpPr>
          <p:cNvPr id="28" name="TextBox 27"/>
          <p:cNvSpPr txBox="1"/>
          <p:nvPr/>
        </p:nvSpPr>
        <p:spPr>
          <a:xfrm>
            <a:off x="1005840" y="5349240"/>
            <a:ext cx="4846320" cy="777240"/>
          </a:xfrm>
          <a:prstGeom prst="rect">
            <a:avLst/>
          </a:prstGeom>
          <a:noFill/>
        </p:spPr>
        <p:txBody>
          <a:bodyPr wrap="square">
            <a:spAutoFit/>
          </a:bodyPr>
          <a:lstStyle/>
          <a:p>
            <a:pPr algn="l">
              <a:defRPr sz="1100" b="0" i="0">
                <a:solidFill>
                  <a:srgbClr val="475569"/>
                </a:solidFill>
                <a:latin typeface="Calibri"/>
              </a:defRPr>
            </a:pPr>
            <a:r>
              <a:t>No consumer flywheel. No triage. Automate estimates for procedures already named by provider. Can't bridge symptoms to procedures.</a:t>
            </a:r>
          </a:p>
        </p:txBody>
      </p:sp>
      <p:sp>
        <p:nvSpPr>
          <p:cNvPr id="29" name="Rectangle 28"/>
          <p:cNvSpPr/>
          <p:nvPr/>
        </p:nvSpPr>
        <p:spPr>
          <a:xfrm>
            <a:off x="1005840" y="6217920"/>
            <a:ext cx="2011680" cy="274320"/>
          </a:xfrm>
          <a:prstGeom prst="rect">
            <a:avLst/>
          </a:prstGeom>
          <a:solidFill>
            <a:srgbClr val="2A5A7A"/>
          </a:solidFill>
          <a:ln w="12700">
            <a:solidFill>
              <a:srgbClr val="2A5A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6217920"/>
            <a:ext cx="2011680" cy="274320"/>
          </a:xfrm>
          <a:prstGeom prst="rect">
            <a:avLst/>
          </a:prstGeom>
          <a:noFill/>
        </p:spPr>
        <p:txBody>
          <a:bodyPr wrap="square">
            <a:spAutoFit/>
          </a:bodyPr>
          <a:lstStyle/>
          <a:p>
            <a:pPr algn="ctr">
              <a:defRPr sz="900" b="1" i="0">
                <a:solidFill>
                  <a:srgbClr val="B0DAF0"/>
                </a:solidFill>
                <a:latin typeface="Calibri"/>
              </a:defRPr>
            </a:pPr>
            <a:r>
              <a:t>B2B PEERS</a:t>
            </a:r>
          </a:p>
        </p:txBody>
      </p:sp>
      <p:sp>
        <p:nvSpPr>
          <p:cNvPr id="31" name="Rectangle 30"/>
          <p:cNvSpPr/>
          <p:nvPr/>
        </p:nvSpPr>
        <p:spPr>
          <a:xfrm>
            <a:off x="6263640" y="4480560"/>
            <a:ext cx="5212080" cy="2194560"/>
          </a:xfrm>
          <a:prstGeom prst="rect">
            <a:avLst/>
          </a:prstGeom>
          <a:solidFill>
            <a:srgbClr val="FFFFFF"/>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46520" y="4572000"/>
            <a:ext cx="457200" cy="365760"/>
          </a:xfrm>
          <a:prstGeom prst="rect">
            <a:avLst/>
          </a:prstGeom>
          <a:noFill/>
        </p:spPr>
        <p:txBody>
          <a:bodyPr wrap="square">
            <a:spAutoFit/>
          </a:bodyPr>
          <a:lstStyle/>
          <a:p>
            <a:pPr algn="l">
              <a:defRPr sz="2800" b="1" i="0">
                <a:solidFill>
                  <a:srgbClr val="A84C6A"/>
                </a:solidFill>
                <a:latin typeface="Calibri"/>
              </a:defRPr>
            </a:pPr>
            <a:r>
              <a:t>8</a:t>
            </a:r>
          </a:p>
        </p:txBody>
      </p:sp>
      <p:sp>
        <p:nvSpPr>
          <p:cNvPr id="33" name="TextBox 32"/>
          <p:cNvSpPr txBox="1"/>
          <p:nvPr/>
        </p:nvSpPr>
        <p:spPr>
          <a:xfrm>
            <a:off x="6903720" y="4572000"/>
            <a:ext cx="4114800" cy="274320"/>
          </a:xfrm>
          <a:prstGeom prst="rect">
            <a:avLst/>
          </a:prstGeom>
          <a:noFill/>
        </p:spPr>
        <p:txBody>
          <a:bodyPr wrap="square">
            <a:spAutoFit/>
          </a:bodyPr>
          <a:lstStyle/>
          <a:p>
            <a:pPr algn="l">
              <a:defRPr sz="1600" b="1" i="0">
                <a:solidFill>
                  <a:srgbClr val="1A1F36"/>
                </a:solidFill>
                <a:latin typeface="Calibri"/>
              </a:defRPr>
            </a:pPr>
            <a:r>
              <a:t>Big Tech &amp; Government</a:t>
            </a:r>
          </a:p>
        </p:txBody>
      </p:sp>
      <p:sp>
        <p:nvSpPr>
          <p:cNvPr id="34" name="TextBox 33"/>
          <p:cNvSpPr txBox="1"/>
          <p:nvPr/>
        </p:nvSpPr>
        <p:spPr>
          <a:xfrm>
            <a:off x="6903720" y="4828032"/>
            <a:ext cx="4114800" cy="182880"/>
          </a:xfrm>
          <a:prstGeom prst="rect">
            <a:avLst/>
          </a:prstGeom>
          <a:noFill/>
        </p:spPr>
        <p:txBody>
          <a:bodyPr wrap="square">
            <a:spAutoFit/>
          </a:bodyPr>
          <a:lstStyle/>
          <a:p>
            <a:pPr algn="l">
              <a:defRPr sz="1000" b="0" i="0">
                <a:solidFill>
                  <a:srgbClr val="64748B"/>
                </a:solidFill>
                <a:latin typeface="Calibri"/>
              </a:defRPr>
            </a:pPr>
            <a:r>
              <a:t>Could They? Won't They.</a:t>
            </a:r>
          </a:p>
        </p:txBody>
      </p:sp>
      <p:sp>
        <p:nvSpPr>
          <p:cNvPr id="35" name="TextBox 34"/>
          <p:cNvSpPr txBox="1"/>
          <p:nvPr/>
        </p:nvSpPr>
        <p:spPr>
          <a:xfrm>
            <a:off x="6446520" y="5074920"/>
            <a:ext cx="4846320" cy="228600"/>
          </a:xfrm>
          <a:prstGeom prst="rect">
            <a:avLst/>
          </a:prstGeom>
          <a:noFill/>
        </p:spPr>
        <p:txBody>
          <a:bodyPr wrap="square">
            <a:spAutoFit/>
          </a:bodyPr>
          <a:lstStyle/>
          <a:p>
            <a:pPr algn="l">
              <a:defRPr sz="1000" b="0" i="0">
                <a:solidFill>
                  <a:srgbClr val="475569"/>
                </a:solidFill>
                <a:latin typeface="Calibri"/>
              </a:defRPr>
            </a:pPr>
            <a:r>
              <a:t>Google (2008-2012) · ChatGPT (230M/week) · Amazon Clinic · CMS Tools</a:t>
            </a:r>
          </a:p>
        </p:txBody>
      </p:sp>
      <p:sp>
        <p:nvSpPr>
          <p:cNvPr id="36" name="TextBox 35"/>
          <p:cNvSpPr txBox="1"/>
          <p:nvPr/>
        </p:nvSpPr>
        <p:spPr>
          <a:xfrm>
            <a:off x="6446520" y="5349240"/>
            <a:ext cx="4846320" cy="777240"/>
          </a:xfrm>
          <a:prstGeom prst="rect">
            <a:avLst/>
          </a:prstGeom>
          <a:noFill/>
        </p:spPr>
        <p:txBody>
          <a:bodyPr wrap="square">
            <a:spAutoFit/>
          </a:bodyPr>
          <a:lstStyle/>
          <a:p>
            <a:pPr algn="l">
              <a:defRPr sz="1100" b="0" i="0">
                <a:solidFill>
                  <a:srgbClr val="475569"/>
                </a:solidFill>
                <a:latin typeface="Calibri"/>
              </a:defRPr>
            </a:pPr>
            <a:r>
              <a:t>Google: no ad revenue upside. ChatGPT: zero MRF access. Amazon: IS a provider. CMS: can't build consumer UX. Bad data is the moat.</a:t>
            </a:r>
          </a:p>
        </p:txBody>
      </p:sp>
      <p:sp>
        <p:nvSpPr>
          <p:cNvPr id="37" name="Rectangle 36"/>
          <p:cNvSpPr/>
          <p:nvPr/>
        </p:nvSpPr>
        <p:spPr>
          <a:xfrm>
            <a:off x="6446520" y="6217920"/>
            <a:ext cx="2011680" cy="274320"/>
          </a:xfrm>
          <a:prstGeom prst="rect">
            <a:avLst/>
          </a:prstGeom>
          <a:solidFill>
            <a:srgbClr val="4A2A6A"/>
          </a:solidFill>
          <a:ln w="12700">
            <a:solidFill>
              <a:srgbClr val="4A2A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46520" y="6217920"/>
            <a:ext cx="2011680" cy="274320"/>
          </a:xfrm>
          <a:prstGeom prst="rect">
            <a:avLst/>
          </a:prstGeom>
          <a:noFill/>
        </p:spPr>
        <p:txBody>
          <a:bodyPr wrap="square">
            <a:spAutoFit/>
          </a:bodyPr>
          <a:lstStyle/>
          <a:p>
            <a:pPr algn="ctr">
              <a:defRPr sz="900" b="1" i="0">
                <a:solidFill>
                  <a:srgbClr val="DAB0F0"/>
                </a:solidFill>
                <a:latin typeface="Calibri"/>
              </a:defRPr>
            </a:pPr>
            <a:r>
              <a:t>TAILWIND, NOT THREAT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AF8"/>
        </a:solidFill>
        <a:effectLst/>
      </p:bgPr>
    </p:bg>
    <p:spTree>
      <p:nvGrpSpPr>
        <p:cNvPr id="1" name=""/>
        <p:cNvGrpSpPr/>
        <p:nvPr/>
      </p:nvGrpSpPr>
      <p:grpSpPr/>
      <p:sp>
        <p:nvSpPr>
          <p:cNvPr id="2" name="Rectangle 1"/>
          <p:cNvSpPr/>
          <p:nvPr/>
        </p:nvSpPr>
        <p:spPr>
          <a:xfrm>
            <a:off x="0" y="0"/>
            <a:ext cx="54864" cy="6858000"/>
          </a:xfrm>
          <a:prstGeom prst="rect">
            <a:avLst/>
          </a:prstGeom>
          <a:solidFill>
            <a:srgbClr val="A84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3657600" cy="274320"/>
          </a:xfrm>
          <a:prstGeom prst="rect">
            <a:avLst/>
          </a:prstGeom>
          <a:noFill/>
        </p:spPr>
        <p:txBody>
          <a:bodyPr wrap="square">
            <a:spAutoFit/>
          </a:bodyPr>
          <a:lstStyle/>
          <a:p>
            <a:pPr algn="l">
              <a:defRPr sz="1100" b="1" i="0">
                <a:solidFill>
                  <a:srgbClr val="A84C6A"/>
                </a:solidFill>
                <a:latin typeface="Calibri"/>
              </a:defRPr>
            </a:pPr>
            <a:r>
              <a:t>DIFFERENTIATION</a:t>
            </a:r>
          </a:p>
        </p:txBody>
      </p:sp>
      <p:sp>
        <p:nvSpPr>
          <p:cNvPr id="4" name="TextBox 3"/>
          <p:cNvSpPr txBox="1"/>
          <p:nvPr/>
        </p:nvSpPr>
        <p:spPr>
          <a:xfrm>
            <a:off x="822960" y="914400"/>
            <a:ext cx="10058400" cy="457200"/>
          </a:xfrm>
          <a:prstGeom prst="rect">
            <a:avLst/>
          </a:prstGeom>
          <a:noFill/>
        </p:spPr>
        <p:txBody>
          <a:bodyPr wrap="square">
            <a:spAutoFit/>
          </a:bodyPr>
          <a:lstStyle/>
          <a:p>
            <a:pPr algn="l">
              <a:defRPr sz="2800" b="1" i="0">
                <a:solidFill>
                  <a:srgbClr val="1A1F36"/>
                </a:solidFill>
                <a:latin typeface="Calibri"/>
              </a:defRPr>
            </a:pPr>
            <a:r>
              <a:t>Five things nobody else does. At all.</a:t>
            </a:r>
          </a:p>
        </p:txBody>
      </p:sp>
      <p:sp>
        <p:nvSpPr>
          <p:cNvPr id="5" name="Rectangle 4"/>
          <p:cNvSpPr/>
          <p:nvPr/>
        </p:nvSpPr>
        <p:spPr>
          <a:xfrm>
            <a:off x="822960" y="1554480"/>
            <a:ext cx="10789920" cy="868680"/>
          </a:xfrm>
          <a:prstGeom prst="rect">
            <a:avLst/>
          </a:prstGeom>
          <a:solidFill>
            <a:srgbClr val="FFFFFF"/>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51560" y="1691640"/>
            <a:ext cx="457200" cy="457200"/>
          </a:xfrm>
          <a:prstGeom prst="ellipse">
            <a:avLst/>
          </a:prstGeom>
          <a:solidFill>
            <a:srgbClr val="A84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691640"/>
            <a:ext cx="457200" cy="457200"/>
          </a:xfrm>
          <a:prstGeom prst="rect">
            <a:avLst/>
          </a:prstGeom>
          <a:noFill/>
        </p:spPr>
        <p:txBody>
          <a:bodyPr wrap="square">
            <a:spAutoFit/>
          </a:bodyPr>
          <a:lstStyle/>
          <a:p>
            <a:pPr algn="ctr">
              <a:defRPr sz="1800" b="1" i="0">
                <a:solidFill>
                  <a:srgbClr val="FFFFFF"/>
                </a:solidFill>
                <a:latin typeface="Calibri"/>
              </a:defRPr>
            </a:pPr>
            <a:r>
              <a:t>1</a:t>
            </a:r>
          </a:p>
        </p:txBody>
      </p:sp>
      <p:sp>
        <p:nvSpPr>
          <p:cNvPr id="8" name="TextBox 7"/>
          <p:cNvSpPr txBox="1"/>
          <p:nvPr/>
        </p:nvSpPr>
        <p:spPr>
          <a:xfrm>
            <a:off x="1691640" y="1627632"/>
            <a:ext cx="5943600" cy="274320"/>
          </a:xfrm>
          <a:prstGeom prst="rect">
            <a:avLst/>
          </a:prstGeom>
          <a:noFill/>
        </p:spPr>
        <p:txBody>
          <a:bodyPr wrap="square">
            <a:spAutoFit/>
          </a:bodyPr>
          <a:lstStyle/>
          <a:p>
            <a:pPr algn="l">
              <a:defRPr sz="1600" b="1" i="0">
                <a:solidFill>
                  <a:srgbClr val="1A1F36"/>
                </a:solidFill>
                <a:latin typeface="Calibri"/>
              </a:defRPr>
            </a:pPr>
            <a:r>
              <a:t>Symptom-to-Cost Bridge</a:t>
            </a:r>
          </a:p>
        </p:txBody>
      </p:sp>
      <p:sp>
        <p:nvSpPr>
          <p:cNvPr id="9" name="TextBox 8"/>
          <p:cNvSpPr txBox="1"/>
          <p:nvPr/>
        </p:nvSpPr>
        <p:spPr>
          <a:xfrm>
            <a:off x="1691640" y="1901952"/>
            <a:ext cx="5943600" cy="457200"/>
          </a:xfrm>
          <a:prstGeom prst="rect">
            <a:avLst/>
          </a:prstGeom>
          <a:noFill/>
        </p:spPr>
        <p:txBody>
          <a:bodyPr wrap="square">
            <a:spAutoFit/>
          </a:bodyPr>
          <a:lstStyle/>
          <a:p>
            <a:pPr algn="l">
              <a:defRPr sz="1000" b="0" i="0">
                <a:solidFill>
                  <a:srgbClr val="475569"/>
                </a:solidFill>
                <a:latin typeface="Calibri"/>
              </a:defRPr>
            </a:pPr>
            <a:r>
              <a:t>Track 1 (symptom checkers) outputs triage. Track 2 (cost tools) requires CPT codes. Nobody connects them. CareCost does it in one session.</a:t>
            </a:r>
          </a:p>
        </p:txBody>
      </p:sp>
      <p:sp>
        <p:nvSpPr>
          <p:cNvPr id="10" name="Rectangle 9"/>
          <p:cNvSpPr/>
          <p:nvPr/>
        </p:nvSpPr>
        <p:spPr>
          <a:xfrm>
            <a:off x="8046720" y="1645920"/>
            <a:ext cx="3383280" cy="685800"/>
          </a:xfrm>
          <a:prstGeom prst="rect">
            <a:avLst/>
          </a:prstGeom>
          <a:solidFill>
            <a:srgbClr val="F8F4F2"/>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664208"/>
            <a:ext cx="3017520" cy="182880"/>
          </a:xfrm>
          <a:prstGeom prst="rect">
            <a:avLst/>
          </a:prstGeom>
          <a:noFill/>
        </p:spPr>
        <p:txBody>
          <a:bodyPr wrap="square">
            <a:spAutoFit/>
          </a:bodyPr>
          <a:lstStyle/>
          <a:p>
            <a:pPr algn="l">
              <a:defRPr sz="800" b="1" i="0">
                <a:solidFill>
                  <a:srgbClr val="A84C6A"/>
                </a:solidFill>
                <a:latin typeface="Calibri"/>
              </a:defRPr>
            </a:pPr>
            <a:r>
              <a:t>CLOSEST PLAYERS</a:t>
            </a:r>
          </a:p>
        </p:txBody>
      </p:sp>
      <p:sp>
        <p:nvSpPr>
          <p:cNvPr id="12" name="TextBox 11"/>
          <p:cNvSpPr txBox="1"/>
          <p:nvPr/>
        </p:nvSpPr>
        <p:spPr>
          <a:xfrm>
            <a:off x="8229600" y="1847088"/>
            <a:ext cx="3017520" cy="411480"/>
          </a:xfrm>
          <a:prstGeom prst="rect">
            <a:avLst/>
          </a:prstGeom>
          <a:noFill/>
        </p:spPr>
        <p:txBody>
          <a:bodyPr wrap="square">
            <a:spAutoFit/>
          </a:bodyPr>
          <a:lstStyle/>
          <a:p>
            <a:pPr algn="l">
              <a:defRPr sz="1000" b="0" i="0">
                <a:solidFill>
                  <a:srgbClr val="64748B"/>
                </a:solidFill>
                <a:latin typeface="Calibri"/>
              </a:defRPr>
            </a:pPr>
            <a:r>
              <a:t>Ada Health has Track 1, Turquoise has Track 2.</a:t>
            </a:r>
          </a:p>
        </p:txBody>
      </p:sp>
      <p:sp>
        <p:nvSpPr>
          <p:cNvPr id="13" name="Rectangle 12"/>
          <p:cNvSpPr/>
          <p:nvPr/>
        </p:nvSpPr>
        <p:spPr>
          <a:xfrm>
            <a:off x="822960" y="2560320"/>
            <a:ext cx="10789920" cy="868680"/>
          </a:xfrm>
          <a:prstGeom prst="rect">
            <a:avLst/>
          </a:prstGeom>
          <a:solidFill>
            <a:srgbClr val="FFFFFF"/>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51560" y="2697480"/>
            <a:ext cx="457200" cy="457200"/>
          </a:xfrm>
          <a:prstGeom prst="ellipse">
            <a:avLst/>
          </a:prstGeom>
          <a:solidFill>
            <a:srgbClr val="A84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2697480"/>
            <a:ext cx="457200" cy="457200"/>
          </a:xfrm>
          <a:prstGeom prst="rect">
            <a:avLst/>
          </a:prstGeom>
          <a:noFill/>
        </p:spPr>
        <p:txBody>
          <a:bodyPr wrap="square">
            <a:spAutoFit/>
          </a:bodyPr>
          <a:lstStyle/>
          <a:p>
            <a:pPr algn="ctr">
              <a:defRPr sz="1800" b="1" i="0">
                <a:solidFill>
                  <a:srgbClr val="FFFFFF"/>
                </a:solidFill>
                <a:latin typeface="Calibri"/>
              </a:defRPr>
            </a:pPr>
            <a:r>
              <a:t>2</a:t>
            </a:r>
          </a:p>
        </p:txBody>
      </p:sp>
      <p:sp>
        <p:nvSpPr>
          <p:cNvPr id="16" name="TextBox 15"/>
          <p:cNvSpPr txBox="1"/>
          <p:nvPr/>
        </p:nvSpPr>
        <p:spPr>
          <a:xfrm>
            <a:off x="1691640" y="2633472"/>
            <a:ext cx="5943600" cy="274320"/>
          </a:xfrm>
          <a:prstGeom prst="rect">
            <a:avLst/>
          </a:prstGeom>
          <a:noFill/>
        </p:spPr>
        <p:txBody>
          <a:bodyPr wrap="square">
            <a:spAutoFit/>
          </a:bodyPr>
          <a:lstStyle/>
          <a:p>
            <a:pPr algn="l">
              <a:defRPr sz="1600" b="1" i="0">
                <a:solidFill>
                  <a:srgbClr val="1A1F36"/>
                </a:solidFill>
                <a:latin typeface="Calibri"/>
              </a:defRPr>
            </a:pPr>
            <a:r>
              <a:t>Scope Labeling</a:t>
            </a:r>
          </a:p>
        </p:txBody>
      </p:sp>
      <p:sp>
        <p:nvSpPr>
          <p:cNvPr id="17" name="TextBox 16"/>
          <p:cNvSpPr txBox="1"/>
          <p:nvPr/>
        </p:nvSpPr>
        <p:spPr>
          <a:xfrm>
            <a:off x="1691640" y="2907792"/>
            <a:ext cx="5943600" cy="457200"/>
          </a:xfrm>
          <a:prstGeom prst="rect">
            <a:avLst/>
          </a:prstGeom>
          <a:noFill/>
        </p:spPr>
        <p:txBody>
          <a:bodyPr wrap="square">
            <a:spAutoFit/>
          </a:bodyPr>
          <a:lstStyle/>
          <a:p>
            <a:pPr algn="l">
              <a:defRPr sz="1000" b="0" i="0">
                <a:solidFill>
                  <a:srgbClr val="475569"/>
                </a:solidFill>
                <a:latin typeface="Calibri"/>
              </a:defRPr>
            </a:pPr>
            <a:r>
              <a:t>Is that $60 colonoscopy physician-only or a full bundle? CMS's 2025 report recommends adding a scope field — it doesn't exist yet. CareCost labels every price.</a:t>
            </a:r>
          </a:p>
        </p:txBody>
      </p:sp>
      <p:sp>
        <p:nvSpPr>
          <p:cNvPr id="18" name="Rectangle 17"/>
          <p:cNvSpPr/>
          <p:nvPr/>
        </p:nvSpPr>
        <p:spPr>
          <a:xfrm>
            <a:off x="8046720" y="2651760"/>
            <a:ext cx="3383280" cy="685800"/>
          </a:xfrm>
          <a:prstGeom prst="rect">
            <a:avLst/>
          </a:prstGeom>
          <a:solidFill>
            <a:srgbClr val="F8F4F2"/>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0" y="2670048"/>
            <a:ext cx="3017520" cy="182880"/>
          </a:xfrm>
          <a:prstGeom prst="rect">
            <a:avLst/>
          </a:prstGeom>
          <a:noFill/>
        </p:spPr>
        <p:txBody>
          <a:bodyPr wrap="square">
            <a:spAutoFit/>
          </a:bodyPr>
          <a:lstStyle/>
          <a:p>
            <a:pPr algn="l">
              <a:defRPr sz="800" b="1" i="0">
                <a:solidFill>
                  <a:srgbClr val="A84C6A"/>
                </a:solidFill>
                <a:latin typeface="Calibri"/>
              </a:defRPr>
            </a:pPr>
            <a:r>
              <a:t>CLOSEST PLAYERS</a:t>
            </a:r>
          </a:p>
        </p:txBody>
      </p:sp>
      <p:sp>
        <p:nvSpPr>
          <p:cNvPr id="20" name="TextBox 19"/>
          <p:cNvSpPr txBox="1"/>
          <p:nvPr/>
        </p:nvSpPr>
        <p:spPr>
          <a:xfrm>
            <a:off x="8229600" y="2852928"/>
            <a:ext cx="3017520" cy="411480"/>
          </a:xfrm>
          <a:prstGeom prst="rect">
            <a:avLst/>
          </a:prstGeom>
          <a:noFill/>
        </p:spPr>
        <p:txBody>
          <a:bodyPr wrap="square">
            <a:spAutoFit/>
          </a:bodyPr>
          <a:lstStyle/>
          <a:p>
            <a:pPr algn="l">
              <a:defRPr sz="1000" b="0" i="0">
                <a:solidFill>
                  <a:srgbClr val="64748B"/>
                </a:solidFill>
                <a:latin typeface="Calibri"/>
              </a:defRPr>
            </a:pPr>
            <a:r>
              <a:t>Turquoise bundles by design. CMS recommends but hasn't built it.</a:t>
            </a:r>
          </a:p>
        </p:txBody>
      </p:sp>
      <p:sp>
        <p:nvSpPr>
          <p:cNvPr id="21" name="Rectangle 20"/>
          <p:cNvSpPr/>
          <p:nvPr/>
        </p:nvSpPr>
        <p:spPr>
          <a:xfrm>
            <a:off x="822960" y="3566160"/>
            <a:ext cx="10789920" cy="868680"/>
          </a:xfrm>
          <a:prstGeom prst="rect">
            <a:avLst/>
          </a:prstGeom>
          <a:solidFill>
            <a:srgbClr val="FFFFFF"/>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51560" y="3703320"/>
            <a:ext cx="457200" cy="457200"/>
          </a:xfrm>
          <a:prstGeom prst="ellipse">
            <a:avLst/>
          </a:prstGeom>
          <a:solidFill>
            <a:srgbClr val="A84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560" y="3703320"/>
            <a:ext cx="457200" cy="457200"/>
          </a:xfrm>
          <a:prstGeom prst="rect">
            <a:avLst/>
          </a:prstGeom>
          <a:noFill/>
        </p:spPr>
        <p:txBody>
          <a:bodyPr wrap="square">
            <a:spAutoFit/>
          </a:bodyPr>
          <a:lstStyle/>
          <a:p>
            <a:pPr algn="ctr">
              <a:defRPr sz="1800" b="1" i="0">
                <a:solidFill>
                  <a:srgbClr val="FFFFFF"/>
                </a:solidFill>
                <a:latin typeface="Calibri"/>
              </a:defRPr>
            </a:pPr>
            <a:r>
              <a:t>3</a:t>
            </a:r>
          </a:p>
        </p:txBody>
      </p:sp>
      <p:sp>
        <p:nvSpPr>
          <p:cNvPr id="24" name="TextBox 23"/>
          <p:cNvSpPr txBox="1"/>
          <p:nvPr/>
        </p:nvSpPr>
        <p:spPr>
          <a:xfrm>
            <a:off x="1691640" y="3639312"/>
            <a:ext cx="5943600" cy="274320"/>
          </a:xfrm>
          <a:prstGeom prst="rect">
            <a:avLst/>
          </a:prstGeom>
          <a:noFill/>
        </p:spPr>
        <p:txBody>
          <a:bodyPr wrap="square">
            <a:spAutoFit/>
          </a:bodyPr>
          <a:lstStyle/>
          <a:p>
            <a:pPr algn="l">
              <a:defRPr sz="1600" b="1" i="0">
                <a:solidFill>
                  <a:srgbClr val="1A1F36"/>
                </a:solidFill>
                <a:latin typeface="Calibri"/>
              </a:defRPr>
            </a:pPr>
            <a:r>
              <a:t>Bundle Decomposition + Source Attribution</a:t>
            </a:r>
          </a:p>
        </p:txBody>
      </p:sp>
      <p:sp>
        <p:nvSpPr>
          <p:cNvPr id="25" name="TextBox 24"/>
          <p:cNvSpPr txBox="1"/>
          <p:nvPr/>
        </p:nvSpPr>
        <p:spPr>
          <a:xfrm>
            <a:off x="1691640" y="3913632"/>
            <a:ext cx="5943600" cy="457200"/>
          </a:xfrm>
          <a:prstGeom prst="rect">
            <a:avLst/>
          </a:prstGeom>
          <a:noFill/>
        </p:spPr>
        <p:txBody>
          <a:bodyPr wrap="square">
            <a:spAutoFit/>
          </a:bodyPr>
          <a:lstStyle/>
          <a:p>
            <a:pPr algn="l">
              <a:defRPr sz="1000" b="0" i="0">
                <a:solidFill>
                  <a:srgbClr val="475569"/>
                </a:solidFill>
                <a:latin typeface="Calibri"/>
              </a:defRPr>
            </a:pPr>
            <a:r>
              <a:t>Surgeon fee ($X, hospital MRF), facility fee ($Y, insurer TiC), anesthesia ($Z, FAIR Health). Every component sourced.</a:t>
            </a:r>
          </a:p>
        </p:txBody>
      </p:sp>
      <p:sp>
        <p:nvSpPr>
          <p:cNvPr id="26" name="Rectangle 25"/>
          <p:cNvSpPr/>
          <p:nvPr/>
        </p:nvSpPr>
        <p:spPr>
          <a:xfrm>
            <a:off x="8046720" y="3657600"/>
            <a:ext cx="3383280" cy="685800"/>
          </a:xfrm>
          <a:prstGeom prst="rect">
            <a:avLst/>
          </a:prstGeom>
          <a:solidFill>
            <a:srgbClr val="F8F4F2"/>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0" y="3675888"/>
            <a:ext cx="3017520" cy="182880"/>
          </a:xfrm>
          <a:prstGeom prst="rect">
            <a:avLst/>
          </a:prstGeom>
          <a:noFill/>
        </p:spPr>
        <p:txBody>
          <a:bodyPr wrap="square">
            <a:spAutoFit/>
          </a:bodyPr>
          <a:lstStyle/>
          <a:p>
            <a:pPr algn="l">
              <a:defRPr sz="800" b="1" i="0">
                <a:solidFill>
                  <a:srgbClr val="A84C6A"/>
                </a:solidFill>
                <a:latin typeface="Calibri"/>
              </a:defRPr>
            </a:pPr>
            <a:r>
              <a:t>CLOSEST PLAYERS</a:t>
            </a:r>
          </a:p>
        </p:txBody>
      </p:sp>
      <p:sp>
        <p:nvSpPr>
          <p:cNvPr id="28" name="TextBox 27"/>
          <p:cNvSpPr txBox="1"/>
          <p:nvPr/>
        </p:nvSpPr>
        <p:spPr>
          <a:xfrm>
            <a:off x="8229600" y="3858768"/>
            <a:ext cx="3017520" cy="411480"/>
          </a:xfrm>
          <a:prstGeom prst="rect">
            <a:avLst/>
          </a:prstGeom>
          <a:noFill/>
        </p:spPr>
        <p:txBody>
          <a:bodyPr wrap="square">
            <a:spAutoFit/>
          </a:bodyPr>
          <a:lstStyle/>
          <a:p>
            <a:pPr algn="l">
              <a:defRPr sz="1000" b="0" i="0">
                <a:solidFill>
                  <a:srgbClr val="64748B"/>
                </a:solidFill>
                <a:latin typeface="Calibri"/>
              </a:defRPr>
            </a:pPr>
            <a:r>
              <a:t>FAIR Health shows categories, no sources. MDsave bundles by patent.</a:t>
            </a:r>
          </a:p>
        </p:txBody>
      </p:sp>
      <p:sp>
        <p:nvSpPr>
          <p:cNvPr id="29" name="Rectangle 28"/>
          <p:cNvSpPr/>
          <p:nvPr/>
        </p:nvSpPr>
        <p:spPr>
          <a:xfrm>
            <a:off x="822960" y="4572000"/>
            <a:ext cx="10789920" cy="868680"/>
          </a:xfrm>
          <a:prstGeom prst="rect">
            <a:avLst/>
          </a:prstGeom>
          <a:solidFill>
            <a:srgbClr val="FFFFFF"/>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51560" y="4709160"/>
            <a:ext cx="457200" cy="457200"/>
          </a:xfrm>
          <a:prstGeom prst="ellipse">
            <a:avLst/>
          </a:prstGeom>
          <a:solidFill>
            <a:srgbClr val="A84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51560" y="4709160"/>
            <a:ext cx="457200" cy="457200"/>
          </a:xfrm>
          <a:prstGeom prst="rect">
            <a:avLst/>
          </a:prstGeom>
          <a:noFill/>
        </p:spPr>
        <p:txBody>
          <a:bodyPr wrap="square">
            <a:spAutoFit/>
          </a:bodyPr>
          <a:lstStyle/>
          <a:p>
            <a:pPr algn="ctr">
              <a:defRPr sz="1800" b="1" i="0">
                <a:solidFill>
                  <a:srgbClr val="FFFFFF"/>
                </a:solidFill>
                <a:latin typeface="Calibri"/>
              </a:defRPr>
            </a:pPr>
            <a:r>
              <a:t>4</a:t>
            </a:r>
          </a:p>
        </p:txBody>
      </p:sp>
      <p:sp>
        <p:nvSpPr>
          <p:cNvPr id="32" name="TextBox 31"/>
          <p:cNvSpPr txBox="1"/>
          <p:nvPr/>
        </p:nvSpPr>
        <p:spPr>
          <a:xfrm>
            <a:off x="1691640" y="4645152"/>
            <a:ext cx="5943600" cy="274320"/>
          </a:xfrm>
          <a:prstGeom prst="rect">
            <a:avLst/>
          </a:prstGeom>
          <a:noFill/>
        </p:spPr>
        <p:txBody>
          <a:bodyPr wrap="square">
            <a:spAutoFit/>
          </a:bodyPr>
          <a:lstStyle/>
          <a:p>
            <a:pPr algn="l">
              <a:defRPr sz="1600" b="1" i="0">
                <a:solidFill>
                  <a:srgbClr val="1A1F36"/>
                </a:solidFill>
                <a:latin typeface="Calibri"/>
              </a:defRPr>
            </a:pPr>
            <a:r>
              <a:t>Cross-Insurer, Insurance-Agnostic Access</a:t>
            </a:r>
          </a:p>
        </p:txBody>
      </p:sp>
      <p:sp>
        <p:nvSpPr>
          <p:cNvPr id="33" name="TextBox 32"/>
          <p:cNvSpPr txBox="1"/>
          <p:nvPr/>
        </p:nvSpPr>
        <p:spPr>
          <a:xfrm>
            <a:off x="1691640" y="4919472"/>
            <a:ext cx="5943600" cy="457200"/>
          </a:xfrm>
          <a:prstGeom prst="rect">
            <a:avLst/>
          </a:prstGeom>
          <a:noFill/>
        </p:spPr>
        <p:txBody>
          <a:bodyPr wrap="square">
            <a:spAutoFit/>
          </a:bodyPr>
          <a:lstStyle/>
          <a:p>
            <a:pPr algn="l">
              <a:defRPr sz="1000" b="0" i="0">
                <a:solidFill>
                  <a:srgbClr val="475569"/>
                </a:solidFill>
                <a:latin typeface="Calibri"/>
              </a:defRPr>
            </a:pPr>
            <a:r>
              <a:t>Uninsured, ACA, employer-insured — same comparison. No login wall, no employer gate.</a:t>
            </a:r>
          </a:p>
        </p:txBody>
      </p:sp>
      <p:sp>
        <p:nvSpPr>
          <p:cNvPr id="34" name="Rectangle 33"/>
          <p:cNvSpPr/>
          <p:nvPr/>
        </p:nvSpPr>
        <p:spPr>
          <a:xfrm>
            <a:off x="8046720" y="4663440"/>
            <a:ext cx="3383280" cy="685800"/>
          </a:xfrm>
          <a:prstGeom prst="rect">
            <a:avLst/>
          </a:prstGeom>
          <a:solidFill>
            <a:srgbClr val="F8F4F2"/>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29600" y="4681728"/>
            <a:ext cx="3017520" cy="182880"/>
          </a:xfrm>
          <a:prstGeom prst="rect">
            <a:avLst/>
          </a:prstGeom>
          <a:noFill/>
        </p:spPr>
        <p:txBody>
          <a:bodyPr wrap="square">
            <a:spAutoFit/>
          </a:bodyPr>
          <a:lstStyle/>
          <a:p>
            <a:pPr algn="l">
              <a:defRPr sz="800" b="1" i="0">
                <a:solidFill>
                  <a:srgbClr val="A84C6A"/>
                </a:solidFill>
                <a:latin typeface="Calibri"/>
              </a:defRPr>
            </a:pPr>
            <a:r>
              <a:t>CLOSEST PLAYERS</a:t>
            </a:r>
          </a:p>
        </p:txBody>
      </p:sp>
      <p:sp>
        <p:nvSpPr>
          <p:cNvPr id="36" name="TextBox 35"/>
          <p:cNvSpPr txBox="1"/>
          <p:nvPr/>
        </p:nvSpPr>
        <p:spPr>
          <a:xfrm>
            <a:off x="8229600" y="4864608"/>
            <a:ext cx="3017520" cy="411480"/>
          </a:xfrm>
          <a:prstGeom prst="rect">
            <a:avLst/>
          </a:prstGeom>
          <a:noFill/>
        </p:spPr>
        <p:txBody>
          <a:bodyPr wrap="square">
            <a:spAutoFit/>
          </a:bodyPr>
          <a:lstStyle/>
          <a:p>
            <a:pPr algn="l">
              <a:defRPr sz="1000" b="0" i="0">
                <a:solidFill>
                  <a:srgbClr val="64748B"/>
                </a:solidFill>
                <a:latin typeface="Calibri"/>
              </a:defRPr>
            </a:pPr>
            <a:r>
              <a:t>New Choice Health is open but limited. Turquoise has data but enterprise-only.</a:t>
            </a:r>
          </a:p>
        </p:txBody>
      </p:sp>
      <p:sp>
        <p:nvSpPr>
          <p:cNvPr id="37" name="Rectangle 36"/>
          <p:cNvSpPr/>
          <p:nvPr/>
        </p:nvSpPr>
        <p:spPr>
          <a:xfrm>
            <a:off x="822960" y="5577840"/>
            <a:ext cx="10789920" cy="868680"/>
          </a:xfrm>
          <a:prstGeom prst="rect">
            <a:avLst/>
          </a:prstGeom>
          <a:solidFill>
            <a:srgbClr val="FFFFFF"/>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51560" y="5715000"/>
            <a:ext cx="457200" cy="457200"/>
          </a:xfrm>
          <a:prstGeom prst="ellipse">
            <a:avLst/>
          </a:prstGeom>
          <a:solidFill>
            <a:srgbClr val="A84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51560" y="5715000"/>
            <a:ext cx="457200" cy="457200"/>
          </a:xfrm>
          <a:prstGeom prst="rect">
            <a:avLst/>
          </a:prstGeom>
          <a:noFill/>
        </p:spPr>
        <p:txBody>
          <a:bodyPr wrap="square">
            <a:spAutoFit/>
          </a:bodyPr>
          <a:lstStyle/>
          <a:p>
            <a:pPr algn="ctr">
              <a:defRPr sz="1800" b="1" i="0">
                <a:solidFill>
                  <a:srgbClr val="FFFFFF"/>
                </a:solidFill>
                <a:latin typeface="Calibri"/>
              </a:defRPr>
            </a:pPr>
            <a:r>
              <a:t>5</a:t>
            </a:r>
          </a:p>
        </p:txBody>
      </p:sp>
      <p:sp>
        <p:nvSpPr>
          <p:cNvPr id="40" name="TextBox 39"/>
          <p:cNvSpPr txBox="1"/>
          <p:nvPr/>
        </p:nvSpPr>
        <p:spPr>
          <a:xfrm>
            <a:off x="1691640" y="5650992"/>
            <a:ext cx="5943600" cy="274320"/>
          </a:xfrm>
          <a:prstGeom prst="rect">
            <a:avLst/>
          </a:prstGeom>
          <a:noFill/>
        </p:spPr>
        <p:txBody>
          <a:bodyPr wrap="square">
            <a:spAutoFit/>
          </a:bodyPr>
          <a:lstStyle/>
          <a:p>
            <a:pPr algn="l">
              <a:defRPr sz="1600" b="1" i="0">
                <a:solidFill>
                  <a:srgbClr val="1A1F36"/>
                </a:solidFill>
                <a:latin typeface="Calibri"/>
              </a:defRPr>
            </a:pPr>
            <a:r>
              <a:t>Patient-Aligned Incentives (Feedback Flywheel)</a:t>
            </a:r>
          </a:p>
        </p:txBody>
      </p:sp>
      <p:sp>
        <p:nvSpPr>
          <p:cNvPr id="41" name="TextBox 40"/>
          <p:cNvSpPr txBox="1"/>
          <p:nvPr/>
        </p:nvSpPr>
        <p:spPr>
          <a:xfrm>
            <a:off x="1691640" y="5925312"/>
            <a:ext cx="5943600" cy="457200"/>
          </a:xfrm>
          <a:prstGeom prst="rect">
            <a:avLst/>
          </a:prstGeom>
          <a:noFill/>
        </p:spPr>
        <p:txBody>
          <a:bodyPr wrap="square">
            <a:spAutoFit/>
          </a:bodyPr>
          <a:lstStyle/>
          <a:p>
            <a:pPr algn="l">
              <a:defRPr sz="1000" b="0" i="0">
                <a:solidFill>
                  <a:srgbClr val="475569"/>
                </a:solidFill>
                <a:latin typeface="Calibri"/>
              </a:defRPr>
            </a:pPr>
            <a:r>
              <a:t>Patients correct prices, flag errors, confirm mappings. The data improves because the user is motivated to make it right.</a:t>
            </a:r>
          </a:p>
        </p:txBody>
      </p:sp>
      <p:sp>
        <p:nvSpPr>
          <p:cNvPr id="42" name="Rectangle 41"/>
          <p:cNvSpPr/>
          <p:nvPr/>
        </p:nvSpPr>
        <p:spPr>
          <a:xfrm>
            <a:off x="8046720" y="5669280"/>
            <a:ext cx="3383280" cy="685800"/>
          </a:xfrm>
          <a:prstGeom prst="rect">
            <a:avLst/>
          </a:prstGeom>
          <a:solidFill>
            <a:srgbClr val="F8F4F2"/>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229600" y="5687568"/>
            <a:ext cx="3017520" cy="182880"/>
          </a:xfrm>
          <a:prstGeom prst="rect">
            <a:avLst/>
          </a:prstGeom>
          <a:noFill/>
        </p:spPr>
        <p:txBody>
          <a:bodyPr wrap="square">
            <a:spAutoFit/>
          </a:bodyPr>
          <a:lstStyle/>
          <a:p>
            <a:pPr algn="l">
              <a:defRPr sz="800" b="1" i="0">
                <a:solidFill>
                  <a:srgbClr val="A84C6A"/>
                </a:solidFill>
                <a:latin typeface="Calibri"/>
              </a:defRPr>
            </a:pPr>
            <a:r>
              <a:t>CLOSEST PLAYERS</a:t>
            </a:r>
          </a:p>
        </p:txBody>
      </p:sp>
      <p:sp>
        <p:nvSpPr>
          <p:cNvPr id="44" name="TextBox 43"/>
          <p:cNvSpPr txBox="1"/>
          <p:nvPr/>
        </p:nvSpPr>
        <p:spPr>
          <a:xfrm>
            <a:off x="8229600" y="5870448"/>
            <a:ext cx="3017520" cy="411480"/>
          </a:xfrm>
          <a:prstGeom prst="rect">
            <a:avLst/>
          </a:prstGeom>
          <a:noFill/>
        </p:spPr>
        <p:txBody>
          <a:bodyPr wrap="square">
            <a:spAutoFit/>
          </a:bodyPr>
          <a:lstStyle/>
          <a:p>
            <a:pPr algn="l">
              <a:defRPr sz="1000" b="0" i="0">
                <a:solidFill>
                  <a:srgbClr val="64748B"/>
                </a:solidFill>
                <a:latin typeface="Calibri"/>
              </a:defRPr>
            </a:pPr>
            <a:r>
              <a:t>GoodRx has consumer alignment but Rx only.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AF8"/>
        </a:solidFill>
        <a:effectLst/>
      </p:bgPr>
    </p:bg>
    <p:spTree>
      <p:nvGrpSpPr>
        <p:cNvPr id="1" name=""/>
        <p:cNvGrpSpPr/>
        <p:nvPr/>
      </p:nvGrpSpPr>
      <p:grpSpPr/>
      <p:sp>
        <p:nvSpPr>
          <p:cNvPr id="2" name="Rectangle 1"/>
          <p:cNvSpPr/>
          <p:nvPr/>
        </p:nvSpPr>
        <p:spPr>
          <a:xfrm>
            <a:off x="0" y="0"/>
            <a:ext cx="54864" cy="6858000"/>
          </a:xfrm>
          <a:prstGeom prst="rect">
            <a:avLst/>
          </a:prstGeom>
          <a:solidFill>
            <a:srgbClr val="A84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3657600" cy="274320"/>
          </a:xfrm>
          <a:prstGeom prst="rect">
            <a:avLst/>
          </a:prstGeom>
          <a:noFill/>
        </p:spPr>
        <p:txBody>
          <a:bodyPr wrap="square">
            <a:spAutoFit/>
          </a:bodyPr>
          <a:lstStyle/>
          <a:p>
            <a:pPr algn="l">
              <a:defRPr sz="1100" b="1" i="0">
                <a:solidFill>
                  <a:srgbClr val="A84C6A"/>
                </a:solidFill>
                <a:latin typeface="Calibri"/>
              </a:defRPr>
            </a:pPr>
            <a:r>
              <a:t>STRATEGIC MOAT</a:t>
            </a:r>
          </a:p>
        </p:txBody>
      </p:sp>
      <p:sp>
        <p:nvSpPr>
          <p:cNvPr id="4" name="TextBox 3"/>
          <p:cNvSpPr txBox="1"/>
          <p:nvPr/>
        </p:nvSpPr>
        <p:spPr>
          <a:xfrm>
            <a:off x="822960" y="914400"/>
            <a:ext cx="10058400" cy="457200"/>
          </a:xfrm>
          <a:prstGeom prst="rect">
            <a:avLst/>
          </a:prstGeom>
          <a:noFill/>
        </p:spPr>
        <p:txBody>
          <a:bodyPr wrap="square">
            <a:spAutoFit/>
          </a:bodyPr>
          <a:lstStyle/>
          <a:p>
            <a:pPr algn="l">
              <a:defRPr sz="2800" b="1" i="0">
                <a:solidFill>
                  <a:srgbClr val="1A1F36"/>
                </a:solidFill>
                <a:latin typeface="Calibri"/>
              </a:defRPr>
            </a:pPr>
            <a:r>
              <a:t>The dual flywheel — why both sides matter.</a:t>
            </a:r>
          </a:p>
        </p:txBody>
      </p:sp>
      <p:sp>
        <p:nvSpPr>
          <p:cNvPr id="5" name="Rectangle 4"/>
          <p:cNvSpPr/>
          <p:nvPr/>
        </p:nvSpPr>
        <p:spPr>
          <a:xfrm>
            <a:off x="822960" y="1554480"/>
            <a:ext cx="5029200" cy="2011680"/>
          </a:xfrm>
          <a:prstGeom prst="rect">
            <a:avLst/>
          </a:prstGeom>
          <a:solidFill>
            <a:srgbClr val="FFFFFF"/>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1554480"/>
            <a:ext cx="36576" cy="2011680"/>
          </a:xfrm>
          <a:prstGeom prst="rect">
            <a:avLst/>
          </a:prstGeom>
          <a:solidFill>
            <a:srgbClr val="A84C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645920"/>
            <a:ext cx="4114800" cy="274320"/>
          </a:xfrm>
          <a:prstGeom prst="rect">
            <a:avLst/>
          </a:prstGeom>
          <a:noFill/>
        </p:spPr>
        <p:txBody>
          <a:bodyPr wrap="square">
            <a:spAutoFit/>
          </a:bodyPr>
          <a:lstStyle/>
          <a:p>
            <a:pPr algn="l">
              <a:defRPr sz="1600" b="1" i="0">
                <a:solidFill>
                  <a:srgbClr val="1A1F36"/>
                </a:solidFill>
                <a:latin typeface="Calibri"/>
              </a:defRPr>
            </a:pPr>
            <a:r>
              <a:t>Consumer Product (DTC)</a:t>
            </a:r>
          </a:p>
        </p:txBody>
      </p:sp>
      <p:sp>
        <p:nvSpPr>
          <p:cNvPr id="8" name="TextBox 7"/>
          <p:cNvSpPr txBox="1"/>
          <p:nvPr/>
        </p:nvSpPr>
        <p:spPr>
          <a:xfrm>
            <a:off x="1097280" y="1965960"/>
            <a:ext cx="4389120" cy="1371600"/>
          </a:xfrm>
          <a:prstGeom prst="rect">
            <a:avLst/>
          </a:prstGeom>
          <a:noFill/>
        </p:spPr>
        <p:txBody>
          <a:bodyPr wrap="square">
            <a:spAutoFit/>
          </a:bodyPr>
          <a:lstStyle/>
          <a:p>
            <a:pPr algn="l">
              <a:defRPr sz="1100" b="0" i="0">
                <a:solidFill>
                  <a:srgbClr val="475569"/>
                </a:solidFill>
                <a:latin typeface="Calibri"/>
              </a:defRPr>
            </a:pPr>
            <a:r>
              <a:t>• "My knee hurts" → priced breakdown</a:t>
            </a:r>
            <a:br/>
            <a:r>
              <a:t>• Symptom-to-procedure translation</a:t>
            </a:r>
            <a:br/>
            <a:r>
              <a:t>• Cross-insurer, cross-provider comparison</a:t>
            </a:r>
            <a:br/>
            <a:r>
              <a:t>• Plain English with cited sources</a:t>
            </a:r>
            <a:br/>
            <a:r>
              <a:t>• Patient feedback corrects pricing data</a:t>
            </a:r>
            <a:br/>
            <a:r>
              <a:t>• University wedge: Yale → 327 R1+R2</a:t>
            </a:r>
          </a:p>
        </p:txBody>
      </p:sp>
      <p:sp>
        <p:nvSpPr>
          <p:cNvPr id="9" name="TextBox 8"/>
          <p:cNvSpPr txBox="1"/>
          <p:nvPr/>
        </p:nvSpPr>
        <p:spPr>
          <a:xfrm>
            <a:off x="5806440" y="2194560"/>
            <a:ext cx="731520" cy="457200"/>
          </a:xfrm>
          <a:prstGeom prst="rect">
            <a:avLst/>
          </a:prstGeom>
          <a:noFill/>
        </p:spPr>
        <p:txBody>
          <a:bodyPr wrap="square">
            <a:spAutoFit/>
          </a:bodyPr>
          <a:lstStyle/>
          <a:p>
            <a:pPr algn="ctr">
              <a:defRPr sz="4800" b="1" i="0">
                <a:solidFill>
                  <a:srgbClr val="A84C6A"/>
                </a:solidFill>
                <a:latin typeface="Calibri"/>
              </a:defRPr>
            </a:pPr>
            <a:r>
              <a:t>↔</a:t>
            </a:r>
          </a:p>
        </p:txBody>
      </p:sp>
      <p:sp>
        <p:nvSpPr>
          <p:cNvPr id="10" name="Rectangle 9"/>
          <p:cNvSpPr/>
          <p:nvPr/>
        </p:nvSpPr>
        <p:spPr>
          <a:xfrm>
            <a:off x="6400800" y="1554480"/>
            <a:ext cx="5029200" cy="2011680"/>
          </a:xfrm>
          <a:prstGeom prst="rect">
            <a:avLst/>
          </a:prstGeom>
          <a:solidFill>
            <a:srgbClr val="FFFFFF"/>
          </a:solidFill>
          <a:ln w="12700">
            <a:solidFill>
              <a:srgbClr val="E8DC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0" y="1554480"/>
            <a:ext cx="36576" cy="2011680"/>
          </a:xfrm>
          <a:prstGeom prst="rect">
            <a:avLst/>
          </a:prstGeom>
          <a:solidFill>
            <a:srgbClr val="2F4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0" y="1645920"/>
            <a:ext cx="4114800" cy="274320"/>
          </a:xfrm>
          <a:prstGeom prst="rect">
            <a:avLst/>
          </a:prstGeom>
          <a:noFill/>
        </p:spPr>
        <p:txBody>
          <a:bodyPr wrap="square">
            <a:spAutoFit/>
          </a:bodyPr>
          <a:lstStyle/>
          <a:p>
            <a:pPr algn="l">
              <a:defRPr sz="1600" b="1" i="0">
                <a:solidFill>
                  <a:srgbClr val="1A1F36"/>
                </a:solidFill>
                <a:latin typeface="Calibri"/>
              </a:defRPr>
            </a:pPr>
            <a:r>
              <a:t>Provider Product (B2B)</a:t>
            </a:r>
          </a:p>
        </p:txBody>
      </p:sp>
      <p:sp>
        <p:nvSpPr>
          <p:cNvPr id="13" name="TextBox 12"/>
          <p:cNvSpPr txBox="1"/>
          <p:nvPr/>
        </p:nvSpPr>
        <p:spPr>
          <a:xfrm>
            <a:off x="6675120" y="1965960"/>
            <a:ext cx="4389120" cy="1371600"/>
          </a:xfrm>
          <a:prstGeom prst="rect">
            <a:avLst/>
          </a:prstGeom>
          <a:noFill/>
        </p:spPr>
        <p:txBody>
          <a:bodyPr wrap="square">
            <a:spAutoFit/>
          </a:bodyPr>
          <a:lstStyle/>
          <a:p>
            <a:pPr algn="l">
              <a:defRPr sz="1100" b="0" i="0">
                <a:solidFill>
                  <a:srgbClr val="475569"/>
                </a:solidFill>
                <a:latin typeface="Calibri"/>
              </a:defRPr>
            </a:pPr>
            <a:r>
              <a:t>• Automated Good Faith Estimates (GFE)</a:t>
            </a:r>
            <a:br/>
            <a:r>
              <a:t>• CMS compliance documentation</a:t>
            </a:r>
            <a:br/>
            <a:r>
              <a:t>• NSA dispute prevention</a:t>
            </a:r>
            <a:br/>
            <a:r>
              <a:t>• Insurance-aware upfront collection</a:t>
            </a:r>
            <a:br/>
            <a:r>
              <a:t>• Provenance-tagged estimates</a:t>
            </a:r>
            <a:br/>
            <a:r>
              <a:t>• Provider lead generation from consumer users</a:t>
            </a:r>
          </a:p>
        </p:txBody>
      </p:sp>
      <p:sp>
        <p:nvSpPr>
          <p:cNvPr id="14" name="Rectangle 13"/>
          <p:cNvSpPr/>
          <p:nvPr/>
        </p:nvSpPr>
        <p:spPr>
          <a:xfrm>
            <a:off x="822960" y="3749039"/>
            <a:ext cx="10607040" cy="777240"/>
          </a:xfrm>
          <a:prstGeom prst="rect">
            <a:avLst/>
          </a:prstGeom>
          <a:solidFill>
            <a:srgbClr val="FFFFFF"/>
          </a:solidFill>
          <a:ln w="25400">
            <a:solidFill>
              <a:srgbClr val="A84C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3840479"/>
            <a:ext cx="10058400" cy="594360"/>
          </a:xfrm>
          <a:prstGeom prst="rect">
            <a:avLst/>
          </a:prstGeom>
          <a:noFill/>
        </p:spPr>
        <p:txBody>
          <a:bodyPr wrap="square">
            <a:spAutoFit/>
          </a:bodyPr>
          <a:lstStyle/>
          <a:p>
            <a:pPr algn="l">
              <a:defRPr sz="1100" b="0" i="0">
                <a:solidFill>
                  <a:srgbClr val="475569"/>
                </a:solidFill>
                <a:latin typeface="Calibri"/>
              </a:defRPr>
            </a:pPr>
            <a:r>
              <a:t>The flywheel: Consumer users generate accuracy data (actual vs. estimated costs, procedure confirmations, billing error flags). That data makes the B2B product better. Better B2B estimates attract more providers. More providers with accurate data make the consumer product better. MD Clarity, Serif Health, and Turquoise only have one side.</a:t>
            </a:r>
          </a:p>
        </p:txBody>
      </p:sp>
      <p:graphicFrame>
        <p:nvGraphicFramePr>
          <p:cNvPr id="16" name="Table 15"/>
          <p:cNvGraphicFramePr>
            <a:graphicFrameLocks noGrp="1"/>
          </p:cNvGraphicFramePr>
          <p:nvPr/>
        </p:nvGraphicFramePr>
        <p:xfrm>
          <a:off x="822960" y="4709160"/>
          <a:ext cx="10607040" cy="1965960"/>
        </p:xfrm>
        <a:graphic>
          <a:graphicData uri="http://schemas.openxmlformats.org/drawingml/2006/table">
            <a:tbl>
              <a:tblPr firstRow="1" bandRow="1">
                <a:tableStyleId>{5C22544A-7EE6-4342-B048-85BDC9FD1C3A}</a:tableStyleId>
              </a:tblPr>
              <a:tblGrid>
                <a:gridCol w="2286000"/>
                <a:gridCol w="3017520"/>
                <a:gridCol w="3200400"/>
                <a:gridCol w="2103120"/>
              </a:tblGrid>
              <a:tr h="280851">
                <a:tc>
                  <a:txBody>
                    <a:bodyPr/>
                    <a:lstStyle/>
                    <a:p>
                      <a:pPr>
                        <a:defRPr sz="900" b="1">
                          <a:solidFill>
                            <a:srgbClr val="A84C6A"/>
                          </a:solidFill>
                          <a:latin typeface="Calibri"/>
                        </a:defRPr>
                      </a:pPr>
                      <a:r>
                        <a:t>Competitor</a:t>
                      </a:r>
                    </a:p>
                  </a:txBody>
                  <a:tcPr>
                    <a:solidFill>
                      <a:srgbClr val="F8F4F2"/>
                    </a:solidFill>
                  </a:tcPr>
                </a:tc>
                <a:tc>
                  <a:txBody>
                    <a:bodyPr/>
                    <a:lstStyle/>
                    <a:p>
                      <a:pPr>
                        <a:defRPr sz="900" b="1">
                          <a:solidFill>
                            <a:srgbClr val="A84C6A"/>
                          </a:solidFill>
                          <a:latin typeface="Calibri"/>
                        </a:defRPr>
                      </a:pPr>
                      <a:r>
                        <a:t>Consumer Side</a:t>
                      </a:r>
                    </a:p>
                  </a:txBody>
                  <a:tcPr>
                    <a:solidFill>
                      <a:srgbClr val="F8F4F2"/>
                    </a:solidFill>
                  </a:tcPr>
                </a:tc>
                <a:tc>
                  <a:txBody>
                    <a:bodyPr/>
                    <a:lstStyle/>
                    <a:p>
                      <a:pPr>
                        <a:defRPr sz="900" b="1">
                          <a:solidFill>
                            <a:srgbClr val="A84C6A"/>
                          </a:solidFill>
                          <a:latin typeface="Calibri"/>
                        </a:defRPr>
                      </a:pPr>
                      <a:r>
                        <a:t>Provider Side</a:t>
                      </a:r>
                    </a:p>
                  </a:txBody>
                  <a:tcPr>
                    <a:solidFill>
                      <a:srgbClr val="F8F4F2"/>
                    </a:solidFill>
                  </a:tcPr>
                </a:tc>
                <a:tc>
                  <a:txBody>
                    <a:bodyPr/>
                    <a:lstStyle/>
                    <a:p>
                      <a:pPr>
                        <a:defRPr sz="900" b="1">
                          <a:solidFill>
                            <a:srgbClr val="A84C6A"/>
                          </a:solidFill>
                          <a:latin typeface="Calibri"/>
                        </a:defRPr>
                      </a:pPr>
                      <a:r>
                        <a:t>Flywheel?</a:t>
                      </a:r>
                    </a:p>
                  </a:txBody>
                  <a:tcPr>
                    <a:solidFill>
                      <a:srgbClr val="F8F4F2"/>
                    </a:solidFill>
                  </a:tcPr>
                </a:tc>
              </a:tr>
              <a:tr h="280851">
                <a:tc>
                  <a:txBody>
                    <a:bodyPr/>
                    <a:lstStyle/>
                    <a:p>
                      <a:pPr>
                        <a:defRPr sz="1000" b="0">
                          <a:solidFill>
                            <a:srgbClr val="1A1F36"/>
                          </a:solidFill>
                          <a:latin typeface="Calibri"/>
                        </a:defRPr>
                      </a:pPr>
                      <a:r>
                        <a:t>Turquoise Health</a:t>
                      </a:r>
                    </a:p>
                  </a:txBody>
                  <a:tcPr/>
                </a:tc>
                <a:tc>
                  <a:txBody>
                    <a:bodyPr/>
                    <a:lstStyle/>
                    <a:p>
                      <a:pPr>
                        <a:defRPr sz="1000" b="0">
                          <a:solidFill>
                            <a:srgbClr val="475569"/>
                          </a:solidFill>
                          <a:latin typeface="Calibri"/>
                        </a:defRPr>
                      </a:pPr>
                      <a:r>
                        <a:t>No — enterprise only</a:t>
                      </a:r>
                    </a:p>
                  </a:txBody>
                  <a:tcPr/>
                </a:tc>
                <a:tc>
                  <a:txBody>
                    <a:bodyPr/>
                    <a:lstStyle/>
                    <a:p>
                      <a:pPr>
                        <a:defRPr sz="1000" b="0">
                          <a:solidFill>
                            <a:srgbClr val="475569"/>
                          </a:solidFill>
                          <a:latin typeface="Calibri"/>
                        </a:defRPr>
                      </a:pPr>
                      <a:r>
                        <a:t>Yes — 300+ health systems</a:t>
                      </a:r>
                    </a:p>
                  </a:txBody>
                  <a:tcPr/>
                </a:tc>
                <a:tc>
                  <a:txBody>
                    <a:bodyPr/>
                    <a:lstStyle/>
                    <a:p>
                      <a:pPr>
                        <a:defRPr sz="1000" b="0">
                          <a:solidFill>
                            <a:srgbClr val="475569"/>
                          </a:solidFill>
                          <a:latin typeface="Calibri"/>
                        </a:defRPr>
                      </a:pPr>
                      <a:r>
                        <a:t>One side only</a:t>
                      </a:r>
                    </a:p>
                  </a:txBody>
                  <a:tcPr/>
                </a:tc>
              </a:tr>
              <a:tr h="280851">
                <a:tc>
                  <a:txBody>
                    <a:bodyPr/>
                    <a:lstStyle/>
                    <a:p>
                      <a:pPr>
                        <a:defRPr sz="1000" b="0">
                          <a:solidFill>
                            <a:srgbClr val="1A1F36"/>
                          </a:solidFill>
                          <a:latin typeface="Calibri"/>
                        </a:defRPr>
                      </a:pPr>
                      <a:r>
                        <a:t>Serif / MD Clarity</a:t>
                      </a:r>
                    </a:p>
                  </a:txBody>
                  <a:tcPr/>
                </a:tc>
                <a:tc>
                  <a:txBody>
                    <a:bodyPr/>
                    <a:lstStyle/>
                    <a:p>
                      <a:pPr>
                        <a:defRPr sz="1000" b="0">
                          <a:solidFill>
                            <a:srgbClr val="475569"/>
                          </a:solidFill>
                          <a:latin typeface="Calibri"/>
                        </a:defRPr>
                      </a:pPr>
                      <a:r>
                        <a:t>No</a:t>
                      </a:r>
                    </a:p>
                  </a:txBody>
                  <a:tcPr/>
                </a:tc>
                <a:tc>
                  <a:txBody>
                    <a:bodyPr/>
                    <a:lstStyle/>
                    <a:p>
                      <a:pPr>
                        <a:defRPr sz="1000" b="0">
                          <a:solidFill>
                            <a:srgbClr val="475569"/>
                          </a:solidFill>
                          <a:latin typeface="Calibri"/>
                        </a:defRPr>
                      </a:pPr>
                      <a:r>
                        <a:t>Yes — GFE automation</a:t>
                      </a:r>
                    </a:p>
                  </a:txBody>
                  <a:tcPr/>
                </a:tc>
                <a:tc>
                  <a:txBody>
                    <a:bodyPr/>
                    <a:lstStyle/>
                    <a:p>
                      <a:pPr>
                        <a:defRPr sz="1000" b="0">
                          <a:solidFill>
                            <a:srgbClr val="475569"/>
                          </a:solidFill>
                          <a:latin typeface="Calibri"/>
                        </a:defRPr>
                      </a:pPr>
                      <a:r>
                        <a:t>One side only</a:t>
                      </a:r>
                    </a:p>
                  </a:txBody>
                  <a:tcPr/>
                </a:tc>
              </a:tr>
              <a:tr h="280851">
                <a:tc>
                  <a:txBody>
                    <a:bodyPr/>
                    <a:lstStyle/>
                    <a:p>
                      <a:pPr>
                        <a:defRPr sz="1000" b="0">
                          <a:solidFill>
                            <a:srgbClr val="1A1F36"/>
                          </a:solidFill>
                          <a:latin typeface="Calibri"/>
                        </a:defRPr>
                      </a:pPr>
                      <a:r>
                        <a:t>Ada / K Health</a:t>
                      </a:r>
                    </a:p>
                  </a:txBody>
                  <a:tcPr/>
                </a:tc>
                <a:tc>
                  <a:txBody>
                    <a:bodyPr/>
                    <a:lstStyle/>
                    <a:p>
                      <a:pPr>
                        <a:defRPr sz="1000" b="0">
                          <a:solidFill>
                            <a:srgbClr val="475569"/>
                          </a:solidFill>
                          <a:latin typeface="Calibri"/>
                        </a:defRPr>
                      </a:pPr>
                      <a:r>
                        <a:t>Yes — triage only</a:t>
                      </a:r>
                    </a:p>
                  </a:txBody>
                  <a:tcPr/>
                </a:tc>
                <a:tc>
                  <a:txBody>
                    <a:bodyPr/>
                    <a:lstStyle/>
                    <a:p>
                      <a:pPr>
                        <a:defRPr sz="1000" b="0">
                          <a:solidFill>
                            <a:srgbClr val="475569"/>
                          </a:solidFill>
                          <a:latin typeface="Calibri"/>
                        </a:defRPr>
                      </a:pPr>
                      <a:r>
                        <a:t>No — no cost data</a:t>
                      </a:r>
                    </a:p>
                  </a:txBody>
                  <a:tcPr/>
                </a:tc>
                <a:tc>
                  <a:txBody>
                    <a:bodyPr/>
                    <a:lstStyle/>
                    <a:p>
                      <a:pPr>
                        <a:defRPr sz="1000" b="0">
                          <a:solidFill>
                            <a:srgbClr val="475569"/>
                          </a:solidFill>
                          <a:latin typeface="Calibri"/>
                        </a:defRPr>
                      </a:pPr>
                      <a:r>
                        <a:t>One side only</a:t>
                      </a:r>
                    </a:p>
                  </a:txBody>
                  <a:tcPr/>
                </a:tc>
              </a:tr>
              <a:tr h="280851">
                <a:tc>
                  <a:txBody>
                    <a:bodyPr/>
                    <a:lstStyle/>
                    <a:p>
                      <a:pPr>
                        <a:defRPr sz="1000" b="0">
                          <a:solidFill>
                            <a:srgbClr val="1A1F36"/>
                          </a:solidFill>
                          <a:latin typeface="Calibri"/>
                        </a:defRPr>
                      </a:pPr>
                      <a:r>
                        <a:t>GoodRx</a:t>
                      </a:r>
                    </a:p>
                  </a:txBody>
                  <a:tcPr/>
                </a:tc>
                <a:tc>
                  <a:txBody>
                    <a:bodyPr/>
                    <a:lstStyle/>
                    <a:p>
                      <a:pPr>
                        <a:defRPr sz="1000" b="0">
                          <a:solidFill>
                            <a:srgbClr val="475569"/>
                          </a:solidFill>
                          <a:latin typeface="Calibri"/>
                        </a:defRPr>
                      </a:pPr>
                      <a:r>
                        <a:t>Yes — Rx only</a:t>
                      </a:r>
                    </a:p>
                  </a:txBody>
                  <a:tcPr/>
                </a:tc>
                <a:tc>
                  <a:txBody>
                    <a:bodyPr/>
                    <a:lstStyle/>
                    <a:p>
                      <a:pPr>
                        <a:defRPr sz="1000" b="0">
                          <a:solidFill>
                            <a:srgbClr val="475569"/>
                          </a:solidFill>
                          <a:latin typeface="Calibri"/>
                        </a:defRPr>
                      </a:pPr>
                      <a:r>
                        <a:t>No — pharmacy, not providers</a:t>
                      </a:r>
                    </a:p>
                  </a:txBody>
                  <a:tcPr/>
                </a:tc>
                <a:tc>
                  <a:txBody>
                    <a:bodyPr/>
                    <a:lstStyle/>
                    <a:p>
                      <a:pPr>
                        <a:defRPr sz="1000" b="0">
                          <a:solidFill>
                            <a:srgbClr val="475569"/>
                          </a:solidFill>
                          <a:latin typeface="Calibri"/>
                        </a:defRPr>
                      </a:pPr>
                      <a:r>
                        <a:t>Rx only</a:t>
                      </a:r>
                    </a:p>
                  </a:txBody>
                  <a:tcPr/>
                </a:tc>
              </a:tr>
              <a:tr h="280851">
                <a:tc>
                  <a:txBody>
                    <a:bodyPr/>
                    <a:lstStyle/>
                    <a:p>
                      <a:pPr>
                        <a:defRPr sz="1000" b="0">
                          <a:solidFill>
                            <a:srgbClr val="1A1F36"/>
                          </a:solidFill>
                          <a:latin typeface="Calibri"/>
                        </a:defRPr>
                      </a:pPr>
                      <a:r>
                        <a:t>Navigation Platforms</a:t>
                      </a:r>
                    </a:p>
                  </a:txBody>
                  <a:tcPr/>
                </a:tc>
                <a:tc>
                  <a:txBody>
                    <a:bodyPr/>
                    <a:lstStyle/>
                    <a:p>
                      <a:pPr>
                        <a:defRPr sz="1000" b="0">
                          <a:solidFill>
                            <a:srgbClr val="475569"/>
                          </a:solidFill>
                          <a:latin typeface="Calibri"/>
                        </a:defRPr>
                      </a:pPr>
                      <a:r>
                        <a:t>No — employer-gated</a:t>
                      </a:r>
                    </a:p>
                  </a:txBody>
                  <a:tcPr/>
                </a:tc>
                <a:tc>
                  <a:txBody>
                    <a:bodyPr/>
                    <a:lstStyle/>
                    <a:p>
                      <a:pPr>
                        <a:defRPr sz="1000" b="0">
                          <a:solidFill>
                            <a:srgbClr val="475569"/>
                          </a:solidFill>
                          <a:latin typeface="Calibri"/>
                        </a:defRPr>
                      </a:pPr>
                      <a:r>
                        <a:t>Partial — absorb, don't decompose</a:t>
                      </a:r>
                    </a:p>
                  </a:txBody>
                  <a:tcPr/>
                </a:tc>
                <a:tc>
                  <a:txBody>
                    <a:bodyPr/>
                    <a:lstStyle/>
                    <a:p>
                      <a:pPr>
                        <a:defRPr sz="1000" b="0">
                          <a:solidFill>
                            <a:srgbClr val="475569"/>
                          </a:solidFill>
                          <a:latin typeface="Calibri"/>
                        </a:defRPr>
                      </a:pPr>
                      <a:r>
                        <a:t>Wrong incentives</a:t>
                      </a:r>
                    </a:p>
                  </a:txBody>
                  <a:tcPr/>
                </a:tc>
              </a:tr>
              <a:tr h="280854">
                <a:tc>
                  <a:txBody>
                    <a:bodyPr/>
                    <a:lstStyle/>
                    <a:p>
                      <a:pPr>
                        <a:defRPr sz="1000" b="1">
                          <a:solidFill>
                            <a:srgbClr val="A84C6A"/>
                          </a:solidFill>
                          <a:latin typeface="Calibri"/>
                        </a:defRPr>
                      </a:pPr>
                      <a:r>
                        <a:t>CareCost</a:t>
                      </a:r>
                    </a:p>
                  </a:txBody>
                  <a:tcPr>
                    <a:solidFill>
                      <a:srgbClr val="FDF2F4"/>
                    </a:solidFill>
                  </a:tcPr>
                </a:tc>
                <a:tc>
                  <a:txBody>
                    <a:bodyPr/>
                    <a:lstStyle/>
                    <a:p>
                      <a:pPr>
                        <a:defRPr sz="1000" b="1">
                          <a:solidFill>
                            <a:srgbClr val="1A1F36"/>
                          </a:solidFill>
                          <a:latin typeface="Calibri"/>
                        </a:defRPr>
                      </a:pPr>
                      <a:r>
                        <a:t>Yes — symptom to cost</a:t>
                      </a:r>
                    </a:p>
                  </a:txBody>
                  <a:tcPr>
                    <a:solidFill>
                      <a:srgbClr val="FDF2F4"/>
                    </a:solidFill>
                  </a:tcPr>
                </a:tc>
                <a:tc>
                  <a:txBody>
                    <a:bodyPr/>
                    <a:lstStyle/>
                    <a:p>
                      <a:pPr>
                        <a:defRPr sz="1000" b="1">
                          <a:solidFill>
                            <a:srgbClr val="1A1F36"/>
                          </a:solidFill>
                          <a:latin typeface="Calibri"/>
                        </a:defRPr>
                      </a:pPr>
                      <a:r>
                        <a:t>Yes — GFE + compliance + leads</a:t>
                      </a:r>
                    </a:p>
                  </a:txBody>
                  <a:tcPr>
                    <a:solidFill>
                      <a:srgbClr val="FDF2F4"/>
                    </a:solidFill>
                  </a:tcPr>
                </a:tc>
                <a:tc>
                  <a:txBody>
                    <a:bodyPr/>
                    <a:lstStyle/>
                    <a:p>
                      <a:pPr>
                        <a:defRPr sz="1000" b="1">
                          <a:solidFill>
                            <a:srgbClr val="1A1F36"/>
                          </a:solidFill>
                          <a:latin typeface="Calibri"/>
                        </a:defRPr>
                      </a:pPr>
                      <a:r>
                        <a:t>Both sides feed each other</a:t>
                      </a:r>
                    </a:p>
                  </a:txBody>
                  <a:tcPr>
                    <a:solidFill>
                      <a:srgbClr val="FDF2F4"/>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